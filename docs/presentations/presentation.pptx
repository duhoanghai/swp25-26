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y="5143500" cx="9144000"/>
  <p:notesSz cx="6858000" cy="9144000"/>
  <p:embeddedFontLst>
    <p:embeddedFont>
      <p:font typeface="Roboto"/>
      <p:regular r:id="rId66"/>
      <p:bold r:id="rId67"/>
      <p:italic r:id="rId68"/>
      <p:boldItalic r:id="rId69"/>
    </p:embeddedFont>
    <p:embeddedFont>
      <p:font typeface="Roboto Mono"/>
      <p:regular r:id="rId70"/>
      <p:bold r:id="rId71"/>
      <p:italic r:id="rId72"/>
      <p:boldItalic r:id="rId7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RobotoMono-boldItalic.fntdata"/><Relationship Id="rId72" Type="http://schemas.openxmlformats.org/officeDocument/2006/relationships/font" Target="fonts/RobotoMono-italic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RobotoMono-bold.fntdata"/><Relationship Id="rId70" Type="http://schemas.openxmlformats.org/officeDocument/2006/relationships/font" Target="fonts/RobotoMono-regular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font" Target="fonts/Roboto-regular.fntdata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font" Target="fonts/Roboto-italic.fntdata"/><Relationship Id="rId23" Type="http://schemas.openxmlformats.org/officeDocument/2006/relationships/slide" Target="slides/slide17.xml"/><Relationship Id="rId67" Type="http://schemas.openxmlformats.org/officeDocument/2006/relationships/font" Target="fonts/Roboto-bold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Roboto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f86cbab60_2_6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d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f86cbab60_2_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g3bf86cbab60_2_6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31cd2c0ad_8_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931cd2c0ad_8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f86cbab60_2_7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d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bf86cbab60_2_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9" name="Google Shape;139;g3bf86cbab60_2_7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31cd2c0ad_8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931cd2c0ad_8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31cd2c0ad_8_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931cd2c0ad_8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31cd2c0ad_8_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931cd2c0ad_8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31cd2c0ad_8_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931cd2c0ad_8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31cd2c0ad_8_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931cd2c0ad_8_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31cd2c0ad_8_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931cd2c0ad_8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31cd2c0ad_8_6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931cd2c0ad_8_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31cd2c0ad_8_7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931cd2c0ad_8_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931aaa6ad7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24" name="Google Shape;224;g3931aaa6ad7_0_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931aaa6ad7_0_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931aaa6ad7_0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5" name="Google Shape;235;g3931aaa6ad7_0_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931aaa6ad7_0_2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931aaa6ad7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46" name="Google Shape;246;g3931aaa6ad7_0_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931aaa6ad7_0_3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931aaa6ad7_0_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7" name="Google Shape;257;g3931aaa6ad7_0_6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931aaa6ad7_0_6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931aaa6ad7_0_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75" name="Google Shape;275;g3931aaa6ad7_0_7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931aaa6ad7_0_7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931aaa6ad7_0_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85" name="Google Shape;285;g3931aaa6ad7_0_9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931aaa6ad7_0_9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931aaa6ad7_0_1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96" name="Google Shape;296;g3931aaa6ad7_0_10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931aaa6ad7_0_10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931aaa6ad7_0_1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08" name="Google Shape;308;g3931aaa6ad7_0_1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931aaa6ad7_0_11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931aaa6ad7_0_1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18" name="Google Shape;318;g3931aaa6ad7_0_1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931aaa6ad7_0_12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931aaa6ad7_0_1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30" name="Google Shape;330;g3931aaa6ad7_0_1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931aaa6ad7_0_15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931aaa6ad7_0_1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41" name="Google Shape;341;g3931aaa6ad7_0_1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931aaa6ad7_0_16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931aaa6ad7_0_1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52" name="Google Shape;352;g3931aaa6ad7_0_17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931aaa6ad7_0_174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931aaa6ad7_0_2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65" name="Google Shape;365;g3931aaa6ad7_0_20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931aaa6ad7_0_20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931aaa6ad7_0_2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88" name="Google Shape;388;g3931aaa6ad7_0_2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931aaa6ad7_0_22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931aaa6ad7_0_2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05" name="Google Shape;405;g3931aaa6ad7_0_2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3931aaa6ad7_0_25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931aaa6ad7_0_2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27" name="Google Shape;427;g3931aaa6ad7_0_27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931aaa6ad7_0_27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931aaa6ad7_0_3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42" name="Google Shape;442;g3931aaa6ad7_0_30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931aaa6ad7_0_30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931aaa6ad7_0_3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56" name="Google Shape;456;g3931aaa6ad7_0_3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3931aaa6ad7_0_31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931aaa6ad7_0_3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66" name="Google Shape;466;g3931aaa6ad7_0_3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g3931aaa6ad7_0_33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931aaa6ad7_0_3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76" name="Google Shape;476;g3931aaa6ad7_0_3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g3931aaa6ad7_0_34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931aaa6ad7_1_15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86" name="Google Shape;486;g3931aaa6ad7_1_15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g3931aaa6ad7_1_151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931aaa6ad7_1_15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95" name="Google Shape;495;g3931aaa6ad7_1_15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g3931aaa6ad7_1_152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931aaa6ad7_1_15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07" name="Google Shape;507;g3931aaa6ad7_1_15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g3931aaa6ad7_1_1534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931aaa6ad7_1_15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24" name="Google Shape;524;g3931aaa6ad7_1_157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g3931aaa6ad7_1_157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931aaa6ad7_1_15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34" name="Google Shape;534;g3931aaa6ad7_1_15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g3931aaa6ad7_1_154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931aaa6ad7_1_15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44" name="Google Shape;544;g3931aaa6ad7_1_156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g3931aaa6ad7_1_156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931aaa6ad7_1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54" name="Google Shape;554;g3931aaa6ad7_1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g3931aaa6ad7_1_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931aaa6ad7_1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63" name="Google Shape;563;g3931aaa6ad7_1_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g3931aaa6ad7_1_2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931aaa6ad7_1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95" name="Google Shape;595;g3931aaa6ad7_1_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g3931aaa6ad7_1_1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931aaa6ad7_1_14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05" name="Google Shape;605;g3931aaa6ad7_1_148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g3931aaa6ad7_1_148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931cd2c0ad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15" name="Google Shape;615;g3931cd2c0ad_0_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g3931cd2c0ad_0_1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931cd2c0ad_0_1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25" name="Google Shape;625;g3931cd2c0ad_0_1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g3931cd2c0ad_0_11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931cd2c0ad_0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41" name="Google Shape;641;g3931cd2c0ad_0_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g3931cd2c0ad_0_3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931cd2c0ad_0_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51" name="Google Shape;651;g3931cd2c0ad_0_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g3931cd2c0ad_0_4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931cd2c0ad_0_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61" name="Google Shape;661;g3931cd2c0ad_0_6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g3931cd2c0ad_0_6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931cd2c0ad_0_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71" name="Google Shape;671;g3931cd2c0ad_0_8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g3931cd2c0ad_0_84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931cd2c0ad_0_1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83" name="Google Shape;683;g3931cd2c0ad_0_10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g3931cd2c0ad_0_10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931cd2c0ad_6_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g3931cd2c0ad_6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931cd2c0ad_6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3931cd2c0ad_6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931cd2c0ad_6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3931cd2c0ad_6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931cd2c0ad_6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3931cd2c0ad_6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931cd2c0ad_6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3931cd2c0ad_6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931cd2c0ad_6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3931cd2c0ad_6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931cd2c0ad_6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3931cd2c0ad_6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bf86cbab60_3_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g3bf86cbab60_3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3931cd2c0ad_12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g3931cd2c0ad_12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931cd2c0ad_12_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g3931cd2c0ad_12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bf86cbab60_3_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g3bf86cbab60_3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  <a:defRPr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414141"/>
              </a:buClr>
              <a:buSzPts val="200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414141"/>
              </a:buClr>
              <a:buSzPts val="180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Font typeface="Courier New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Clr>
                <a:srgbClr val="A8CC2F"/>
              </a:buClr>
              <a:buSzPts val="1800"/>
              <a:buNone/>
              <a:defRPr/>
            </a:lvl5pPr>
            <a:lvl6pPr lvl="5" algn="ctr">
              <a:spcBef>
                <a:spcPts val="320"/>
              </a:spcBef>
              <a:spcAft>
                <a:spcPts val="0"/>
              </a:spcAft>
              <a:buClr>
                <a:srgbClr val="414141"/>
              </a:buClr>
              <a:buSzPts val="1600"/>
              <a:buFont typeface="Arial"/>
              <a:buNone/>
              <a:defRPr/>
            </a:lvl6pPr>
            <a:lvl7pPr lvl="6" algn="ctr">
              <a:spcBef>
                <a:spcPts val="320"/>
              </a:spcBef>
              <a:spcAft>
                <a:spcPts val="0"/>
              </a:spcAft>
              <a:buClr>
                <a:srgbClr val="414141"/>
              </a:buClr>
              <a:buSzPts val="1600"/>
              <a:buFont typeface="Arial"/>
              <a:buNone/>
              <a:defRPr/>
            </a:lvl7pPr>
            <a:lvl8pPr lvl="7" algn="ctr">
              <a:spcBef>
                <a:spcPts val="320"/>
              </a:spcBef>
              <a:spcAft>
                <a:spcPts val="0"/>
              </a:spcAft>
              <a:buClr>
                <a:srgbClr val="414141"/>
              </a:buClr>
              <a:buSzPts val="1600"/>
              <a:buFont typeface="Arial"/>
              <a:buNone/>
              <a:defRPr/>
            </a:lvl8pPr>
            <a:lvl9pPr lvl="8" algn="ctr">
              <a:spcBef>
                <a:spcPts val="320"/>
              </a:spcBef>
              <a:spcAft>
                <a:spcPts val="0"/>
              </a:spcAft>
              <a:buClr>
                <a:srgbClr val="414141"/>
              </a:buClr>
              <a:buSzPts val="1600"/>
              <a:buFont typeface="Arial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63500" y="4720829"/>
            <a:ext cx="23050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8CC2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">
  <p:cSld name="Titel und Inhal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685800" y="1485900"/>
            <a:ext cx="8001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414141"/>
              </a:buClr>
              <a:buSzPts val="1800"/>
              <a:buChar char="·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414141"/>
              </a:buClr>
              <a:buSzPts val="1800"/>
              <a:buChar char="·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414141"/>
              </a:buClr>
              <a:buSzPts val="1800"/>
              <a:buChar char="·"/>
              <a:defRPr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A8CC2F"/>
              </a:buClr>
              <a:buSzPts val="1800"/>
              <a:buChar char="·"/>
              <a:defRPr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685800" y="457200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65" name="Google Shape;65;p15"/>
          <p:cNvSpPr txBox="1"/>
          <p:nvPr>
            <p:ph idx="11" type="ftr"/>
          </p:nvPr>
        </p:nvSpPr>
        <p:spPr>
          <a:xfrm>
            <a:off x="63500" y="4720829"/>
            <a:ext cx="23050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8CC2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schnittsüberschrift" type="secHead">
  <p:cSld name="SECTION_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414141"/>
              </a:buClr>
              <a:buSzPts val="20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414141"/>
              </a:buClr>
              <a:buSzPts val="180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414141"/>
              </a:buClr>
              <a:buSzPts val="16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Font typeface="Courier New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A8CC2F"/>
              </a:buClr>
              <a:buSzPts val="14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41414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41414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41414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41414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63500" y="4720829"/>
            <a:ext cx="23050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8CC2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ei Inhalte" type="twoObj">
  <p:cSld name="TWO_OBJECT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type="title"/>
          </p:nvPr>
        </p:nvSpPr>
        <p:spPr>
          <a:xfrm>
            <a:off x="685800" y="457200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" type="body"/>
          </p:nvPr>
        </p:nvSpPr>
        <p:spPr>
          <a:xfrm>
            <a:off x="685800" y="1485900"/>
            <a:ext cx="3924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rgbClr val="414141"/>
              </a:buClr>
              <a:buSzPts val="2400"/>
              <a:buChar char="·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rgbClr val="414141"/>
              </a:buClr>
              <a:buSzPts val="2000"/>
              <a:buChar char="·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414141"/>
              </a:buClr>
              <a:buSzPts val="1800"/>
              <a:buChar char="·"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rgbClr val="A8CC2F"/>
              </a:buClr>
              <a:buSzPts val="1600"/>
              <a:buChar char="·"/>
              <a:defRPr sz="1600"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4" name="Google Shape;74;p17"/>
          <p:cNvSpPr txBox="1"/>
          <p:nvPr>
            <p:ph idx="2" type="body"/>
          </p:nvPr>
        </p:nvSpPr>
        <p:spPr>
          <a:xfrm>
            <a:off x="4762500" y="1485900"/>
            <a:ext cx="3924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rgbClr val="414141"/>
              </a:buClr>
              <a:buSzPts val="2400"/>
              <a:buChar char="·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rgbClr val="414141"/>
              </a:buClr>
              <a:buSzPts val="2000"/>
              <a:buChar char="·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414141"/>
              </a:buClr>
              <a:buSzPts val="1800"/>
              <a:buChar char="·"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rgbClr val="A8CC2F"/>
              </a:buClr>
              <a:buSzPts val="1600"/>
              <a:buChar char="·"/>
              <a:defRPr sz="1600"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63500" y="4720829"/>
            <a:ext cx="23050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8CC2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gleich" type="twoTxTwoObj">
  <p:cSld name="TWO_OBJECTS_WITH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rgbClr val="41414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rgbClr val="41414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Courier New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rgbClr val="A8CC2F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rgbClr val="41414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rgbClr val="41414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rgbClr val="41414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rgbClr val="41414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80" name="Google Shape;80;p18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rgbClr val="414141"/>
              </a:buClr>
              <a:buSzPts val="2400"/>
              <a:buChar char="·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rgbClr val="414141"/>
              </a:buClr>
              <a:buSzPts val="2000"/>
              <a:buChar char="·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414141"/>
              </a:buClr>
              <a:buSzPts val="1800"/>
              <a:buChar char="·"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rgbClr val="A8CC2F"/>
              </a:buClr>
              <a:buSzPts val="1600"/>
              <a:buChar char="·"/>
              <a:defRPr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81" name="Google Shape;81;p18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rgbClr val="41414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rgbClr val="41414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Courier New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rgbClr val="A8CC2F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rgbClr val="41414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rgbClr val="41414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rgbClr val="41414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rgbClr val="41414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82" name="Google Shape;82;p18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rgbClr val="414141"/>
              </a:buClr>
              <a:buSzPts val="2400"/>
              <a:buChar char="·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rgbClr val="414141"/>
              </a:buClr>
              <a:buSzPts val="2000"/>
              <a:buChar char="·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414141"/>
              </a:buClr>
              <a:buSzPts val="1800"/>
              <a:buChar char="·"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rgbClr val="A8CC2F"/>
              </a:buClr>
              <a:buSzPts val="1600"/>
              <a:buChar char="·"/>
              <a:defRPr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83" name="Google Shape;83;p18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84" name="Google Shape;84;p18"/>
          <p:cNvSpPr txBox="1"/>
          <p:nvPr>
            <p:ph idx="11" type="ftr"/>
          </p:nvPr>
        </p:nvSpPr>
        <p:spPr>
          <a:xfrm>
            <a:off x="63500" y="4720829"/>
            <a:ext cx="23050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8CC2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r Titel" type="titleOnly">
  <p:cSld name="TITLE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685800" y="457200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88" name="Google Shape;88;p19"/>
          <p:cNvSpPr txBox="1"/>
          <p:nvPr>
            <p:ph idx="11" type="ftr"/>
          </p:nvPr>
        </p:nvSpPr>
        <p:spPr>
          <a:xfrm>
            <a:off x="63500" y="4720829"/>
            <a:ext cx="23050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8CC2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er" type="blank">
  <p:cSld name="BLANK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91" name="Google Shape;91;p20"/>
          <p:cNvSpPr txBox="1"/>
          <p:nvPr>
            <p:ph idx="11" type="ftr"/>
          </p:nvPr>
        </p:nvSpPr>
        <p:spPr>
          <a:xfrm>
            <a:off x="63500" y="4720829"/>
            <a:ext cx="23050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8CC2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alt mit Beschriftung" type="objTx">
  <p:cSld name="OBJECT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rgbClr val="414141"/>
              </a:buClr>
              <a:buSzPts val="3200"/>
              <a:buChar char="·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rgbClr val="414141"/>
              </a:buClr>
              <a:buSzPts val="2800"/>
              <a:buChar char="·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rgbClr val="414141"/>
              </a:buClr>
              <a:buSzPts val="2400"/>
              <a:buChar char="·"/>
              <a:defRPr sz="24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rgbClr val="A8CC2F"/>
              </a:buClr>
              <a:buSzPts val="2000"/>
              <a:buChar char="·"/>
              <a:defRPr sz="20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8pPr>
            <a:lvl9pPr indent="-228600" lvl="8" marL="41148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/>
        </p:txBody>
      </p:sp>
      <p:sp>
        <p:nvSpPr>
          <p:cNvPr id="95" name="Google Shape;95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rgbClr val="41414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rgbClr val="41414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41414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Font typeface="Courier New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rgbClr val="A8CC2F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rgbClr val="41414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rgbClr val="41414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rgbClr val="41414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rgbClr val="41414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96" name="Google Shape;96;p21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97" name="Google Shape;97;p21"/>
          <p:cNvSpPr txBox="1"/>
          <p:nvPr>
            <p:ph idx="11" type="ftr"/>
          </p:nvPr>
        </p:nvSpPr>
        <p:spPr>
          <a:xfrm>
            <a:off x="63500" y="4720829"/>
            <a:ext cx="23050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8CC2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 mit Beschriftung" type="picTx">
  <p:cSld name="PICTURE_WITH_CAPTION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rgbClr val="41414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rgbClr val="41414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41414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Font typeface="Courier New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rgbClr val="A8CC2F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rgbClr val="41414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rgbClr val="41414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rgbClr val="41414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rgbClr val="41414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102" name="Google Shape;102;p22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103" name="Google Shape;103;p22"/>
          <p:cNvSpPr txBox="1"/>
          <p:nvPr>
            <p:ph idx="11" type="ftr"/>
          </p:nvPr>
        </p:nvSpPr>
        <p:spPr>
          <a:xfrm>
            <a:off x="63500" y="4720829"/>
            <a:ext cx="23050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8CC2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vertikaler Text" type="vertTx">
  <p:cSld name="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/>
          <p:nvPr>
            <p:ph type="title"/>
          </p:nvPr>
        </p:nvSpPr>
        <p:spPr>
          <a:xfrm>
            <a:off x="685800" y="457200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3"/>
          <p:cNvSpPr txBox="1"/>
          <p:nvPr>
            <p:ph idx="1" type="body"/>
          </p:nvPr>
        </p:nvSpPr>
        <p:spPr>
          <a:xfrm rot="5400000">
            <a:off x="3143250" y="-971550"/>
            <a:ext cx="3086100" cy="8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414141"/>
              </a:buClr>
              <a:buSzPts val="1800"/>
              <a:buChar char="·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414141"/>
              </a:buClr>
              <a:buSzPts val="1800"/>
              <a:buChar char="·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414141"/>
              </a:buClr>
              <a:buSzPts val="1800"/>
              <a:buChar char="·"/>
              <a:defRPr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A8CC2F"/>
              </a:buClr>
              <a:buSzPts val="1800"/>
              <a:buChar char="·"/>
              <a:defRPr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3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108" name="Google Shape;108;p23"/>
          <p:cNvSpPr txBox="1"/>
          <p:nvPr>
            <p:ph idx="11" type="ftr"/>
          </p:nvPr>
        </p:nvSpPr>
        <p:spPr>
          <a:xfrm>
            <a:off x="63500" y="4720829"/>
            <a:ext cx="23050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8CC2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kaler Titel und Text" type="vertTitleAndTx">
  <p:cSld name="VERTICAL_TITLE_AND_VERTICAL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/>
          <p:nvPr>
            <p:ph type="title"/>
          </p:nvPr>
        </p:nvSpPr>
        <p:spPr>
          <a:xfrm rot="5400000">
            <a:off x="5629275" y="1514475"/>
            <a:ext cx="4114800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4"/>
          <p:cNvSpPr txBox="1"/>
          <p:nvPr>
            <p:ph idx="1" type="body"/>
          </p:nvPr>
        </p:nvSpPr>
        <p:spPr>
          <a:xfrm rot="5400000">
            <a:off x="1552575" y="-409575"/>
            <a:ext cx="4114800" cy="5848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414141"/>
              </a:buClr>
              <a:buSzPts val="1800"/>
              <a:buChar char="·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414141"/>
              </a:buClr>
              <a:buSzPts val="1800"/>
              <a:buChar char="·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414141"/>
              </a:buClr>
              <a:buSzPts val="1800"/>
              <a:buChar char="·"/>
              <a:defRPr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A8CC2F"/>
              </a:buClr>
              <a:buSzPts val="1800"/>
              <a:buChar char="·"/>
              <a:defRPr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4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113" name="Google Shape;113;p24"/>
          <p:cNvSpPr txBox="1"/>
          <p:nvPr>
            <p:ph idx="11" type="ftr"/>
          </p:nvPr>
        </p:nvSpPr>
        <p:spPr>
          <a:xfrm>
            <a:off x="63500" y="4720829"/>
            <a:ext cx="23050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8CC2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/>
          <p:nvPr>
            <p:ph type="title"/>
          </p:nvPr>
        </p:nvSpPr>
        <p:spPr>
          <a:xfrm>
            <a:off x="685800" y="457200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5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117" name="Google Shape;117;p25"/>
          <p:cNvSpPr txBox="1"/>
          <p:nvPr>
            <p:ph idx="11" type="ftr"/>
          </p:nvPr>
        </p:nvSpPr>
        <p:spPr>
          <a:xfrm>
            <a:off x="63500" y="4720829"/>
            <a:ext cx="23050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8CC2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85800" y="457200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85800" y="1485900"/>
            <a:ext cx="8001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414141"/>
              </a:buClr>
              <a:buSzPts val="2400"/>
              <a:buFont typeface="Merriweather Sans"/>
              <a:buChar char="·"/>
              <a:defRPr b="0" i="0" sz="2400" u="none" cap="none" strike="noStrike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rgbClr val="414141"/>
              </a:buClr>
              <a:buSzPts val="2000"/>
              <a:buFont typeface="Merriweather Sans"/>
              <a:buChar char="·"/>
              <a:defRPr b="0" i="0" sz="2000" u="none" cap="none" strike="noStrike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rgbClr val="414141"/>
              </a:buClr>
              <a:buSzPts val="1800"/>
              <a:buFont typeface="Merriweather Sans"/>
              <a:buChar char="·"/>
              <a:defRPr b="0" i="0" sz="1800" u="none" cap="none" strike="noStrike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414141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rgbClr val="A8CC2F"/>
              </a:buClr>
              <a:buSzPts val="1800"/>
              <a:buFont typeface="Merriweather Sans"/>
              <a:buChar char="·"/>
              <a:defRPr b="0" i="0" sz="18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  <a:defRPr b="0" i="0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descr="btu_logo_rz_horiz_rgbjpg" id="54" name="Google Shape;54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5883275" y="315516"/>
            <a:ext cx="2071688" cy="8286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63500" y="4720829"/>
            <a:ext cx="23050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Relationship Id="rId4" Type="http://schemas.openxmlformats.org/officeDocument/2006/relationships/image" Target="../media/image21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Relationship Id="rId7" Type="http://schemas.openxmlformats.org/officeDocument/2006/relationships/image" Target="../media/image20.png"/><Relationship Id="rId8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Relationship Id="rId4" Type="http://schemas.openxmlformats.org/officeDocument/2006/relationships/image" Target="../media/image38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9" Type="http://schemas.openxmlformats.org/officeDocument/2006/relationships/image" Target="../media/image27.png"/><Relationship Id="rId5" Type="http://schemas.openxmlformats.org/officeDocument/2006/relationships/image" Target="../media/image29.png"/><Relationship Id="rId6" Type="http://schemas.openxmlformats.org/officeDocument/2006/relationships/image" Target="../media/image32.png"/><Relationship Id="rId7" Type="http://schemas.openxmlformats.org/officeDocument/2006/relationships/image" Target="../media/image43.png"/><Relationship Id="rId8" Type="http://schemas.openxmlformats.org/officeDocument/2006/relationships/image" Target="../media/image3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4.png"/><Relationship Id="rId4" Type="http://schemas.openxmlformats.org/officeDocument/2006/relationships/image" Target="../media/image34.png"/><Relationship Id="rId5" Type="http://schemas.openxmlformats.org/officeDocument/2006/relationships/image" Target="../media/image37.png"/><Relationship Id="rId6" Type="http://schemas.openxmlformats.org/officeDocument/2006/relationships/image" Target="../media/image2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Relationship Id="rId4" Type="http://schemas.openxmlformats.org/officeDocument/2006/relationships/image" Target="../media/image2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8.png"/><Relationship Id="rId4" Type="http://schemas.openxmlformats.org/officeDocument/2006/relationships/image" Target="../media/image3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6.xml"/><Relationship Id="rId3" Type="http://schemas.openxmlformats.org/officeDocument/2006/relationships/hyperlink" Target="https://developer.android.com/compose" TargetMode="External"/><Relationship Id="rId4" Type="http://schemas.openxmlformats.org/officeDocument/2006/relationships/hyperlink" Target="https://m3.material.io/components/" TargetMode="External"/><Relationship Id="rId5" Type="http://schemas.openxmlformats.org/officeDocument/2006/relationships/hyperlink" Target="https://spring.io/projects/spring-boot" TargetMode="External"/><Relationship Id="rId6" Type="http://schemas.openxmlformats.org/officeDocument/2006/relationships/hyperlink" Target="https://docs.docker.com/" TargetMode="External"/><Relationship Id="rId7" Type="http://schemas.openxmlformats.org/officeDocument/2006/relationships/hyperlink" Target="https://www.postgresql.org/docs/" TargetMode="Externa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7.xml"/><Relationship Id="rId3" Type="http://schemas.openxmlformats.org/officeDocument/2006/relationships/hyperlink" Target="https://www.w3schools.com/html/" TargetMode="External"/><Relationship Id="rId4" Type="http://schemas.openxmlformats.org/officeDocument/2006/relationships/hyperlink" Target="https://www.w3schools.com/js/" TargetMode="External"/><Relationship Id="rId5" Type="http://schemas.openxmlformats.org/officeDocument/2006/relationships/hyperlink" Target="https://wiki.selfhtml.org/wiki/Einstieg_in_CSS" TargetMode="External"/><Relationship Id="rId6" Type="http://schemas.openxmlformats.org/officeDocument/2006/relationships/hyperlink" Target="https://www.jetbrains.com/help/idea/getting-started.html" TargetMode="External"/><Relationship Id="rId7" Type="http://schemas.openxmlformats.org/officeDocument/2006/relationships/hyperlink" Target="https://www.overleaf.com/learn/latex/Learn_LaTeX_in_30_minutes" TargetMode="Externa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8.xml"/><Relationship Id="rId3" Type="http://schemas.openxmlformats.org/officeDocument/2006/relationships/hyperlink" Target="https://app.diagrams.net" TargetMode="External"/><Relationship Id="rId4" Type="http://schemas.openxmlformats.org/officeDocument/2006/relationships/hyperlink" Target="https://www.affinity.studio/de_de/page-layout-software" TargetMode="Externa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6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</a:pPr>
            <a:fld id="{00000000-1234-1234-1234-123412341234}" type="slidenum">
              <a:rPr b="0" i="0" lang="de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A8CC2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6"/>
          <p:cNvSpPr txBox="1"/>
          <p:nvPr>
            <p:ph type="ctrTitle"/>
          </p:nvPr>
        </p:nvSpPr>
        <p:spPr>
          <a:xfrm>
            <a:off x="3096425" y="1458500"/>
            <a:ext cx="4398000" cy="31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lang="de" sz="1400">
                <a:solidFill>
                  <a:srgbClr val="414141"/>
                </a:solidFill>
              </a:rPr>
            </a:br>
            <a:br>
              <a:rPr lang="de" sz="2000">
                <a:solidFill>
                  <a:srgbClr val="414141"/>
                </a:solidFill>
              </a:rPr>
            </a:br>
            <a:endParaRPr sz="2000">
              <a:solidFill>
                <a:srgbClr val="41414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de" sz="1400">
                <a:solidFill>
                  <a:srgbClr val="414141"/>
                </a:solidFill>
              </a:rPr>
              <a:t>30. Januar 2026</a:t>
            </a:r>
            <a:endParaRPr b="0" sz="1400">
              <a:solidFill>
                <a:srgbClr val="41414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41414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400">
                <a:solidFill>
                  <a:srgbClr val="414141"/>
                </a:solidFill>
              </a:rPr>
              <a:t>Softwarepraktikum</a:t>
            </a:r>
            <a:r>
              <a:rPr b="0" lang="de" sz="2000">
                <a:solidFill>
                  <a:srgbClr val="414141"/>
                </a:solidFill>
              </a:rPr>
              <a:t> </a:t>
            </a:r>
            <a:br>
              <a:rPr b="0" lang="de" sz="2000">
                <a:solidFill>
                  <a:srgbClr val="414141"/>
                </a:solidFill>
              </a:rPr>
            </a:br>
            <a:r>
              <a:rPr b="0" lang="de" sz="2000">
                <a:solidFill>
                  <a:srgbClr val="414141"/>
                </a:solidFill>
              </a:rPr>
              <a:t>POSTOPERATIVE MONITORING APP</a:t>
            </a:r>
            <a:br>
              <a:rPr lang="de" sz="2000">
                <a:solidFill>
                  <a:srgbClr val="414141"/>
                </a:solidFill>
              </a:rPr>
            </a:br>
            <a:br>
              <a:rPr lang="de" sz="2000">
                <a:solidFill>
                  <a:srgbClr val="414141"/>
                </a:solidFill>
              </a:rPr>
            </a:br>
            <a:r>
              <a:rPr lang="de" sz="2000">
                <a:solidFill>
                  <a:srgbClr val="414141"/>
                </a:solidFill>
              </a:rPr>
              <a:t>Gruppe A</a:t>
            </a:r>
            <a:br>
              <a:rPr b="0" lang="de" sz="2000">
                <a:solidFill>
                  <a:srgbClr val="414141"/>
                </a:solidFill>
              </a:rPr>
            </a:br>
            <a:r>
              <a:rPr b="0" lang="de" sz="2000">
                <a:solidFill>
                  <a:srgbClr val="414141"/>
                </a:solidFill>
              </a:rPr>
              <a:t>Valentina Aseeva, Eric Staudt, Hai Hoang Du, Marwa Al Siyamji Al Mousli, Bruno Schreier </a:t>
            </a:r>
            <a:br>
              <a:rPr b="0" lang="de" sz="2000">
                <a:solidFill>
                  <a:srgbClr val="414141"/>
                </a:solidFill>
              </a:rPr>
            </a:br>
            <a:br>
              <a:rPr b="0" lang="de" sz="1400">
                <a:solidFill>
                  <a:srgbClr val="414141"/>
                </a:solidFill>
              </a:rPr>
            </a:br>
            <a:br>
              <a:rPr b="0" lang="de" sz="1400">
                <a:solidFill>
                  <a:srgbClr val="414141"/>
                </a:solidFill>
              </a:rPr>
            </a:br>
            <a:endParaRPr b="0" sz="2000">
              <a:solidFill>
                <a:srgbClr val="414141"/>
              </a:solidFill>
            </a:endParaRPr>
          </a:p>
        </p:txBody>
      </p:sp>
      <p:sp>
        <p:nvSpPr>
          <p:cNvPr id="125" name="Google Shape;125;p26"/>
          <p:cNvSpPr/>
          <p:nvPr/>
        </p:nvSpPr>
        <p:spPr>
          <a:xfrm>
            <a:off x="7924800" y="4514850"/>
            <a:ext cx="762000" cy="40005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keyvisual" id="126" name="Google Shape;12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71650"/>
            <a:ext cx="3028950" cy="25407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7"/>
          <p:cNvSpPr txBox="1"/>
          <p:nvPr>
            <p:ph idx="1" type="body"/>
          </p:nvPr>
        </p:nvSpPr>
        <p:spPr>
          <a:xfrm>
            <a:off x="685800" y="1485900"/>
            <a:ext cx="8001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Arbeitsplanung: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de" sz="2000">
                <a:solidFill>
                  <a:schemeClr val="dk1"/>
                </a:solidFill>
              </a:rPr>
              <a:t>zuerst ziemlich unorganisiert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de" sz="2000">
                <a:solidFill>
                  <a:schemeClr val="dk1"/>
                </a:solidFill>
              </a:rPr>
              <a:t>unabhängiges/paralleles Arbeiten fast unmöglich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de" sz="2000">
                <a:solidFill>
                  <a:schemeClr val="dk1"/>
                </a:solidFill>
              </a:rPr>
              <a:t>KanBan-Board im 1. Meilenstein kaum genutzt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de" sz="2000">
                <a:solidFill>
                  <a:schemeClr val="dk1"/>
                </a:solidFill>
              </a:rPr>
              <a:t>ab 2. Meilenstein aktivere Arbeit mit “Issues”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de" sz="2000">
                <a:solidFill>
                  <a:schemeClr val="dk1"/>
                </a:solidFill>
              </a:rPr>
              <a:t>danach zentrales Tool in Gruppenarbeit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32" name="Google Shape;132;p27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EINBLICKE IN DIE PROJEKTDOKUMENTATION</a:t>
            </a:r>
            <a:endParaRPr>
              <a:solidFill>
                <a:srgbClr val="00AE4D"/>
              </a:solidFill>
            </a:endParaRPr>
          </a:p>
        </p:txBody>
      </p:sp>
      <p:sp>
        <p:nvSpPr>
          <p:cNvPr id="133" name="Google Shape;133;p27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134" name="Google Shape;134;p27"/>
          <p:cNvSpPr txBox="1"/>
          <p:nvPr>
            <p:ph idx="11" type="ftr"/>
          </p:nvPr>
        </p:nvSpPr>
        <p:spPr>
          <a:xfrm>
            <a:off x="63500" y="4720829"/>
            <a:ext cx="230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sp>
        <p:nvSpPr>
          <p:cNvPr id="135" name="Google Shape;135;p27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01 · E</a:t>
            </a:r>
            <a:r>
              <a:rPr lang="de" sz="1000">
                <a:solidFill>
                  <a:srgbClr val="00AE4D"/>
                </a:solidFill>
              </a:rPr>
              <a:t>inblicke in die Projektdokumentation</a:t>
            </a:r>
            <a:endParaRPr>
              <a:solidFill>
                <a:srgbClr val="00AE4D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</a:pPr>
            <a:fld id="{00000000-1234-1234-1234-123412341234}" type="slidenum">
              <a:rPr b="0" i="0" lang="de" sz="1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A8CC2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8"/>
          <p:cNvSpPr/>
          <p:nvPr/>
        </p:nvSpPr>
        <p:spPr>
          <a:xfrm>
            <a:off x="1043000" y="1383499"/>
            <a:ext cx="7273800" cy="31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400">
                <a:solidFill>
                  <a:srgbClr val="00AE4D"/>
                </a:solidFill>
              </a:rPr>
              <a:t>Inhalt</a:t>
            </a:r>
            <a:endParaRPr b="1" i="0" sz="2400" u="none" cap="none" strike="noStrike">
              <a:solidFill>
                <a:srgbClr val="00AE4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A8CC2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AE4D"/>
              </a:buClr>
              <a:buSzPts val="2000"/>
              <a:buFont typeface="Arial"/>
              <a:buAutoNum type="arabicPeriod"/>
            </a:pPr>
            <a:r>
              <a:rPr b="0" i="0" lang="de" sz="2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de" sz="2000">
                <a:solidFill>
                  <a:srgbClr val="00AE4D"/>
                </a:solidFill>
              </a:rPr>
              <a:t>inblicke in die Projektdokumentation</a:t>
            </a:r>
            <a:endParaRPr sz="2000">
              <a:solidFill>
                <a:srgbClr val="00AE4D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rgbClr val="00AE4D"/>
                </a:solidFill>
              </a:rPr>
              <a:t>Adressat: Entwicklungs- und Managementteam</a:t>
            </a:r>
            <a:endParaRPr sz="2000">
              <a:solidFill>
                <a:srgbClr val="00AE4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AE4D"/>
              </a:solidFill>
            </a:endParaRPr>
          </a:p>
          <a:p>
            <a:pPr indent="-431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AE4D"/>
              </a:buClr>
              <a:buSzPts val="2000"/>
              <a:buFont typeface="Arial"/>
              <a:buAutoNum type="arabicPeriod"/>
            </a:pPr>
            <a:r>
              <a:rPr lang="de" sz="2000">
                <a:solidFill>
                  <a:srgbClr val="00AE4D"/>
                </a:solidFill>
              </a:rPr>
              <a:t>Gesamtüberblick über das dokumentierte Softwareprodukt</a:t>
            </a:r>
            <a:endParaRPr sz="2000">
              <a:solidFill>
                <a:srgbClr val="00AE4D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rgbClr val="00AE4D"/>
                </a:solidFill>
              </a:rPr>
              <a:t>Adressat: Nutzende der App</a:t>
            </a:r>
            <a:endParaRPr sz="2000">
              <a:solidFill>
                <a:srgbClr val="00AE4D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AE4D"/>
              </a:solidFill>
            </a:endParaRPr>
          </a:p>
          <a:p>
            <a:pPr indent="-431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AE4D"/>
              </a:buClr>
              <a:buSzPts val="2000"/>
              <a:buFont typeface="Arial"/>
              <a:buAutoNum type="arabicPeriod"/>
            </a:pPr>
            <a:r>
              <a:rPr lang="de" sz="2000">
                <a:solidFill>
                  <a:srgbClr val="00AE4D"/>
                </a:solidFill>
              </a:rPr>
              <a:t>Implementierung</a:t>
            </a:r>
            <a:endParaRPr sz="2000">
              <a:solidFill>
                <a:srgbClr val="00AE4D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rgbClr val="00AE4D"/>
                </a:solidFill>
              </a:rPr>
              <a:t>Adressat: Neues Teammitglied</a:t>
            </a:r>
            <a:endParaRPr sz="2000">
              <a:solidFill>
                <a:srgbClr val="00AE4D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AE4D"/>
              </a:solidFill>
            </a:endParaRPr>
          </a:p>
          <a:p>
            <a:pPr indent="-431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AE4D"/>
              </a:buClr>
              <a:buSzPts val="2000"/>
              <a:buAutoNum type="arabicPeriod"/>
            </a:pPr>
            <a:r>
              <a:rPr lang="de" sz="2000">
                <a:solidFill>
                  <a:srgbClr val="00AE4D"/>
                </a:solidFill>
              </a:rPr>
              <a:t>Zusammenfassung und Reflexion</a:t>
            </a:r>
            <a:endParaRPr sz="2000">
              <a:solidFill>
                <a:srgbClr val="00AE4D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rgbClr val="00AE4D"/>
                </a:solidFill>
              </a:rPr>
              <a:t>Adressat: Entwicklungs- und Lehrveranstaltungsteam</a:t>
            </a:r>
            <a:endParaRPr sz="2000">
              <a:solidFill>
                <a:srgbClr val="00AE4D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AE4D"/>
              </a:solidFill>
            </a:endParaRPr>
          </a:p>
          <a:p>
            <a:pPr indent="-431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AE4D"/>
              </a:buClr>
              <a:buSzPts val="2000"/>
              <a:buAutoNum type="arabicPeriod"/>
            </a:pPr>
            <a:r>
              <a:rPr lang="de" sz="2000">
                <a:solidFill>
                  <a:srgbClr val="00AE4D"/>
                </a:solidFill>
              </a:rPr>
              <a:t>Quellenangabe</a:t>
            </a:r>
            <a:endParaRPr sz="2000">
              <a:solidFill>
                <a:srgbClr val="00AE4D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00AE4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de" sz="2000" u="none" cap="none" strike="noStrike">
                <a:solidFill>
                  <a:srgbClr val="A8CC2F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/>
          <p:cNvSpPr txBox="1"/>
          <p:nvPr>
            <p:ph idx="1" type="body"/>
          </p:nvPr>
        </p:nvSpPr>
        <p:spPr>
          <a:xfrm>
            <a:off x="685800" y="1485900"/>
            <a:ext cx="8001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Arbeitsplanung: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de" sz="2000">
                <a:solidFill>
                  <a:schemeClr val="dk1"/>
                </a:solidFill>
              </a:rPr>
              <a:t>in Meilensteinen gearbeitet: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de">
                <a:solidFill>
                  <a:schemeClr val="dk1"/>
                </a:solidFill>
              </a:rPr>
              <a:t>1. MS: Anforderungsspezifikation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de">
                <a:solidFill>
                  <a:schemeClr val="dk1"/>
                </a:solidFill>
              </a:rPr>
              <a:t>2. MS: Entwurf &amp; Prototyp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de">
                <a:solidFill>
                  <a:schemeClr val="dk1"/>
                </a:solidFill>
              </a:rPr>
              <a:t>3. MS: Implementierung &amp; Testen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de">
                <a:solidFill>
                  <a:schemeClr val="dk1"/>
                </a:solidFill>
              </a:rPr>
              <a:t>4. MS: Abrundung &amp; Abschlusspräsentation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8" name="Google Shape;148;p29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EINBLICKE IN DIE PROJEKTDOKUMENTATION</a:t>
            </a:r>
            <a:endParaRPr>
              <a:solidFill>
                <a:srgbClr val="00AE4D"/>
              </a:solidFill>
            </a:endParaRPr>
          </a:p>
        </p:txBody>
      </p:sp>
      <p:sp>
        <p:nvSpPr>
          <p:cNvPr id="149" name="Google Shape;149;p29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150" name="Google Shape;150;p29"/>
          <p:cNvSpPr txBox="1"/>
          <p:nvPr>
            <p:ph idx="11" type="ftr"/>
          </p:nvPr>
        </p:nvSpPr>
        <p:spPr>
          <a:xfrm>
            <a:off x="63500" y="4720829"/>
            <a:ext cx="230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sp>
        <p:nvSpPr>
          <p:cNvPr id="151" name="Google Shape;151;p29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01 · E</a:t>
            </a:r>
            <a:r>
              <a:rPr lang="de" sz="1000">
                <a:solidFill>
                  <a:srgbClr val="00AE4D"/>
                </a:solidFill>
              </a:rPr>
              <a:t>inblicke in die Projektdokumentation</a:t>
            </a:r>
            <a:endParaRPr>
              <a:solidFill>
                <a:srgbClr val="00AE4D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/>
          <p:nvPr>
            <p:ph idx="1" type="body"/>
          </p:nvPr>
        </p:nvSpPr>
        <p:spPr>
          <a:xfrm>
            <a:off x="685800" y="1485900"/>
            <a:ext cx="8001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KanBan-Board:</a:t>
            </a:r>
            <a:endParaRPr sz="2000">
              <a:solidFill>
                <a:srgbClr val="00AE4D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AE4D"/>
              </a:buClr>
              <a:buSzPts val="2000"/>
              <a:buAutoNum type="arabicPeriod"/>
            </a:pPr>
            <a:r>
              <a:rPr lang="de" sz="2000">
                <a:solidFill>
                  <a:srgbClr val="00AE4D"/>
                </a:solidFill>
              </a:rPr>
              <a:t>Product Backlog </a:t>
            </a:r>
            <a:r>
              <a:rPr lang="de" sz="2000">
                <a:solidFill>
                  <a:schemeClr val="dk1"/>
                </a:solidFill>
              </a:rPr>
              <a:t>= Aufgabenliste (“To-Do”)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AE4D"/>
              </a:buClr>
              <a:buSzPts val="2000"/>
              <a:buAutoNum type="arabicPeriod"/>
            </a:pPr>
            <a:r>
              <a:rPr lang="de" sz="2000">
                <a:solidFill>
                  <a:srgbClr val="00AE4D"/>
                </a:solidFill>
              </a:rPr>
              <a:t>Sprint Backlog </a:t>
            </a:r>
            <a:r>
              <a:rPr lang="de" sz="2000">
                <a:solidFill>
                  <a:schemeClr val="dk1"/>
                </a:solidFill>
              </a:rPr>
              <a:t>= höchste Priorität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AE4D"/>
              </a:buClr>
              <a:buSzPts val="2000"/>
              <a:buAutoNum type="arabicPeriod"/>
            </a:pPr>
            <a:r>
              <a:rPr lang="de" sz="2000">
                <a:solidFill>
                  <a:srgbClr val="00AE4D"/>
                </a:solidFill>
              </a:rPr>
              <a:t>In Progress </a:t>
            </a:r>
            <a:r>
              <a:rPr lang="de" sz="2000">
                <a:solidFill>
                  <a:schemeClr val="dk1"/>
                </a:solidFill>
              </a:rPr>
              <a:t>= in Arbeit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AE4D"/>
              </a:buClr>
              <a:buSzPts val="2000"/>
              <a:buAutoNum type="arabicPeriod"/>
            </a:pPr>
            <a:r>
              <a:rPr lang="de" sz="2000">
                <a:solidFill>
                  <a:srgbClr val="00AE4D"/>
                </a:solidFill>
              </a:rPr>
              <a:t>Code Review </a:t>
            </a:r>
            <a:r>
              <a:rPr lang="de" sz="2000">
                <a:solidFill>
                  <a:schemeClr val="dk1"/>
                </a:solidFill>
              </a:rPr>
              <a:t>= fertig, aber noch nicht freigegeben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AE4D"/>
              </a:buClr>
              <a:buSzPts val="2000"/>
              <a:buAutoNum type="arabicPeriod"/>
            </a:pPr>
            <a:r>
              <a:rPr lang="de" sz="2000">
                <a:solidFill>
                  <a:srgbClr val="00AE4D"/>
                </a:solidFill>
              </a:rPr>
              <a:t>Testing </a:t>
            </a:r>
            <a:r>
              <a:rPr lang="de" sz="2000">
                <a:solidFill>
                  <a:schemeClr val="dk1"/>
                </a:solidFill>
              </a:rPr>
              <a:t>= Überprüfung und Fehlerbehebung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AE4D"/>
              </a:buClr>
              <a:buSzPts val="2000"/>
              <a:buAutoNum type="arabicPeriod"/>
            </a:pPr>
            <a:r>
              <a:rPr lang="de" sz="2000">
                <a:solidFill>
                  <a:srgbClr val="00AE4D"/>
                </a:solidFill>
              </a:rPr>
              <a:t>Ready For Deploy </a:t>
            </a:r>
            <a:r>
              <a:rPr lang="de" sz="2000">
                <a:solidFill>
                  <a:schemeClr val="dk1"/>
                </a:solidFill>
              </a:rPr>
              <a:t>= kann freigegeben werden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AE4D"/>
              </a:buClr>
              <a:buSzPts val="2000"/>
              <a:buAutoNum type="arabicPeriod"/>
            </a:pPr>
            <a:r>
              <a:rPr lang="de" sz="2000">
                <a:solidFill>
                  <a:srgbClr val="00AE4D"/>
                </a:solidFill>
              </a:rPr>
              <a:t>Done </a:t>
            </a:r>
            <a:r>
              <a:rPr lang="de" sz="2000">
                <a:solidFill>
                  <a:schemeClr val="dk1"/>
                </a:solidFill>
              </a:rPr>
              <a:t>= komplett abgeschlossen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</p:txBody>
      </p:sp>
      <p:sp>
        <p:nvSpPr>
          <p:cNvPr id="157" name="Google Shape;157;p30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EINBLICKE IN DIE PROJEKTDOKUMENTATION</a:t>
            </a:r>
            <a:endParaRPr>
              <a:solidFill>
                <a:srgbClr val="00AE4D"/>
              </a:solidFill>
            </a:endParaRPr>
          </a:p>
        </p:txBody>
      </p:sp>
      <p:sp>
        <p:nvSpPr>
          <p:cNvPr id="158" name="Google Shape;158;p30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159" name="Google Shape;159;p30"/>
          <p:cNvSpPr txBox="1"/>
          <p:nvPr>
            <p:ph idx="11" type="ftr"/>
          </p:nvPr>
        </p:nvSpPr>
        <p:spPr>
          <a:xfrm>
            <a:off x="63500" y="4720829"/>
            <a:ext cx="230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sp>
        <p:nvSpPr>
          <p:cNvPr id="160" name="Google Shape;160;p30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01 · E</a:t>
            </a:r>
            <a:r>
              <a:rPr lang="de" sz="1000">
                <a:solidFill>
                  <a:srgbClr val="00AE4D"/>
                </a:solidFill>
              </a:rPr>
              <a:t>inblicke in die Projektdokumentation</a:t>
            </a:r>
            <a:endParaRPr>
              <a:solidFill>
                <a:srgbClr val="00AE4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/>
          <p:nvPr>
            <p:ph idx="1" type="body"/>
          </p:nvPr>
        </p:nvSpPr>
        <p:spPr>
          <a:xfrm>
            <a:off x="685800" y="1485900"/>
            <a:ext cx="8001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KanBan-Board (Beispiel):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</p:txBody>
      </p:sp>
      <p:sp>
        <p:nvSpPr>
          <p:cNvPr id="166" name="Google Shape;166;p31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EINBLICKE IN DIE PROJEKTDOKUMENTATION</a:t>
            </a:r>
            <a:endParaRPr>
              <a:solidFill>
                <a:srgbClr val="00AE4D"/>
              </a:solidFill>
            </a:endParaRPr>
          </a:p>
        </p:txBody>
      </p:sp>
      <p:sp>
        <p:nvSpPr>
          <p:cNvPr id="167" name="Google Shape;167;p31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168" name="Google Shape;168;p31"/>
          <p:cNvSpPr txBox="1"/>
          <p:nvPr>
            <p:ph idx="11" type="ftr"/>
          </p:nvPr>
        </p:nvSpPr>
        <p:spPr>
          <a:xfrm>
            <a:off x="63500" y="4720829"/>
            <a:ext cx="230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sp>
        <p:nvSpPr>
          <p:cNvPr id="169" name="Google Shape;169;p31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01 · E</a:t>
            </a:r>
            <a:r>
              <a:rPr lang="de" sz="1000">
                <a:solidFill>
                  <a:srgbClr val="00AE4D"/>
                </a:solidFill>
              </a:rPr>
              <a:t>inblicke in die Projektdokumentation</a:t>
            </a:r>
            <a:endParaRPr>
              <a:solidFill>
                <a:srgbClr val="00AE4D"/>
              </a:solidFill>
            </a:endParaRPr>
          </a:p>
        </p:txBody>
      </p:sp>
      <p:pic>
        <p:nvPicPr>
          <p:cNvPr id="170" name="Google Shape;17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70762"/>
            <a:ext cx="9144000" cy="171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/>
          <p:nvPr>
            <p:ph idx="1" type="body"/>
          </p:nvPr>
        </p:nvSpPr>
        <p:spPr>
          <a:xfrm>
            <a:off x="685800" y="1485900"/>
            <a:ext cx="8001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Arbeitsaufteilung</a:t>
            </a:r>
            <a:r>
              <a:rPr lang="de" sz="2000">
                <a:solidFill>
                  <a:srgbClr val="00AE4D"/>
                </a:solidFill>
              </a:rPr>
              <a:t>:</a:t>
            </a:r>
            <a:endParaRPr sz="2000">
              <a:solidFill>
                <a:srgbClr val="00AE4D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AE4D"/>
              </a:buClr>
              <a:buSzPts val="2000"/>
              <a:buChar char="-"/>
            </a:pPr>
            <a:r>
              <a:rPr lang="de" sz="2000">
                <a:solidFill>
                  <a:srgbClr val="00AE4D"/>
                </a:solidFill>
              </a:rPr>
              <a:t>App: </a:t>
            </a:r>
            <a:r>
              <a:rPr lang="de" sz="2000">
                <a:solidFill>
                  <a:schemeClr val="dk1"/>
                </a:solidFill>
              </a:rPr>
              <a:t>Eric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AE4D"/>
              </a:buClr>
              <a:buSzPts val="2000"/>
              <a:buChar char="-"/>
            </a:pPr>
            <a:r>
              <a:rPr lang="de" sz="2000">
                <a:solidFill>
                  <a:srgbClr val="00AE4D"/>
                </a:solidFill>
              </a:rPr>
              <a:t>Website: </a:t>
            </a:r>
            <a:r>
              <a:rPr lang="de" sz="2000">
                <a:solidFill>
                  <a:schemeClr val="dk1"/>
                </a:solidFill>
              </a:rPr>
              <a:t>Bruno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AE4D"/>
              </a:buClr>
              <a:buSzPts val="2000"/>
              <a:buChar char="-"/>
            </a:pPr>
            <a:r>
              <a:rPr lang="de" sz="2000">
                <a:solidFill>
                  <a:srgbClr val="00AE4D"/>
                </a:solidFill>
              </a:rPr>
              <a:t>Backend (Server): </a:t>
            </a:r>
            <a:r>
              <a:rPr lang="de" sz="2000">
                <a:solidFill>
                  <a:schemeClr val="dk1"/>
                </a:solidFill>
              </a:rPr>
              <a:t>Valentina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AE4D"/>
              </a:buClr>
              <a:buSzPts val="2000"/>
              <a:buChar char="-"/>
            </a:pPr>
            <a:r>
              <a:rPr lang="de" sz="2000">
                <a:solidFill>
                  <a:srgbClr val="00AE4D"/>
                </a:solidFill>
              </a:rPr>
              <a:t>Produktdokumentation: </a:t>
            </a:r>
            <a:r>
              <a:rPr lang="de" sz="2000">
                <a:solidFill>
                  <a:schemeClr val="dk1"/>
                </a:solidFill>
              </a:rPr>
              <a:t>Hai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AE4D"/>
              </a:buClr>
              <a:buSzPts val="2000"/>
              <a:buChar char="-"/>
            </a:pPr>
            <a:r>
              <a:rPr lang="de" sz="2000">
                <a:solidFill>
                  <a:srgbClr val="00AE4D"/>
                </a:solidFill>
              </a:rPr>
              <a:t>Tests: </a:t>
            </a:r>
            <a:r>
              <a:rPr lang="de" sz="2000">
                <a:solidFill>
                  <a:schemeClr val="dk1"/>
                </a:solidFill>
              </a:rPr>
              <a:t>Marwa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de" sz="2000">
                <a:solidFill>
                  <a:schemeClr val="dk1"/>
                </a:solidFill>
              </a:rPr>
              <a:t>viel als Team gearbeitet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</p:txBody>
      </p:sp>
      <p:sp>
        <p:nvSpPr>
          <p:cNvPr id="176" name="Google Shape;176;p32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EINBLICKE IN DIE PROJEKTDOKUMENTATION</a:t>
            </a:r>
            <a:endParaRPr>
              <a:solidFill>
                <a:srgbClr val="00AE4D"/>
              </a:solidFill>
            </a:endParaRPr>
          </a:p>
        </p:txBody>
      </p:sp>
      <p:sp>
        <p:nvSpPr>
          <p:cNvPr id="177" name="Google Shape;177;p32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178" name="Google Shape;178;p32"/>
          <p:cNvSpPr txBox="1"/>
          <p:nvPr>
            <p:ph idx="11" type="ftr"/>
          </p:nvPr>
        </p:nvSpPr>
        <p:spPr>
          <a:xfrm>
            <a:off x="63500" y="4720829"/>
            <a:ext cx="230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sp>
        <p:nvSpPr>
          <p:cNvPr id="179" name="Google Shape;179;p32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01 · E</a:t>
            </a:r>
            <a:r>
              <a:rPr lang="de" sz="1000">
                <a:solidFill>
                  <a:srgbClr val="00AE4D"/>
                </a:solidFill>
              </a:rPr>
              <a:t>inblicke in die Projektdokumentation</a:t>
            </a:r>
            <a:endParaRPr>
              <a:solidFill>
                <a:srgbClr val="00AE4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 txBox="1"/>
          <p:nvPr>
            <p:ph idx="1" type="body"/>
          </p:nvPr>
        </p:nvSpPr>
        <p:spPr>
          <a:xfrm>
            <a:off x="685800" y="1485900"/>
            <a:ext cx="8001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Arbeitsorganisation:</a:t>
            </a:r>
            <a:endParaRPr sz="2000">
              <a:solidFill>
                <a:srgbClr val="00AE4D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de" sz="2000">
                <a:solidFill>
                  <a:schemeClr val="dk1"/>
                </a:solidFill>
              </a:rPr>
              <a:t>wöchentlicher Arbeitszyklus: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de">
                <a:solidFill>
                  <a:schemeClr val="dk1"/>
                </a:solidFill>
              </a:rPr>
              <a:t>Montag: Treffen mit Tutorin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de">
                <a:solidFill>
                  <a:schemeClr val="dk1"/>
                </a:solidFill>
              </a:rPr>
              <a:t>Dienstag: Besprechung/Vergleich mit Gruppe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de">
                <a:solidFill>
                  <a:schemeClr val="dk1"/>
                </a:solidFill>
              </a:rPr>
              <a:t>Mittwoch: Abgabe der Aufgaben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de">
                <a:solidFill>
                  <a:schemeClr val="dk1"/>
                </a:solidFill>
              </a:rPr>
              <a:t>Freitag: Briefing/Review/Walkthrough/etc.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de">
                <a:solidFill>
                  <a:schemeClr val="dk1"/>
                </a:solidFill>
              </a:rPr>
              <a:t>ca. 150 Stunden Einzel- &amp; Gruppenarbeit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</p:txBody>
      </p:sp>
      <p:sp>
        <p:nvSpPr>
          <p:cNvPr id="185" name="Google Shape;185;p33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EINBLICKE IN DIE PROJEKTDOKUMENTATION</a:t>
            </a:r>
            <a:endParaRPr>
              <a:solidFill>
                <a:srgbClr val="00AE4D"/>
              </a:solidFill>
            </a:endParaRPr>
          </a:p>
        </p:txBody>
      </p:sp>
      <p:sp>
        <p:nvSpPr>
          <p:cNvPr id="186" name="Google Shape;186;p33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187" name="Google Shape;187;p33"/>
          <p:cNvSpPr txBox="1"/>
          <p:nvPr>
            <p:ph idx="11" type="ftr"/>
          </p:nvPr>
        </p:nvSpPr>
        <p:spPr>
          <a:xfrm>
            <a:off x="63500" y="4720829"/>
            <a:ext cx="230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sp>
        <p:nvSpPr>
          <p:cNvPr id="188" name="Google Shape;188;p33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01 · E</a:t>
            </a:r>
            <a:r>
              <a:rPr lang="de" sz="1000">
                <a:solidFill>
                  <a:srgbClr val="00AE4D"/>
                </a:solidFill>
              </a:rPr>
              <a:t>inblicke in die Projektdokumentation</a:t>
            </a:r>
            <a:endParaRPr>
              <a:solidFill>
                <a:srgbClr val="00AE4D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 txBox="1"/>
          <p:nvPr>
            <p:ph idx="1" type="body"/>
          </p:nvPr>
        </p:nvSpPr>
        <p:spPr>
          <a:xfrm>
            <a:off x="685800" y="1485900"/>
            <a:ext cx="8001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Arbeitsorganisation: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</p:txBody>
      </p:sp>
      <p:sp>
        <p:nvSpPr>
          <p:cNvPr id="194" name="Google Shape;194;p34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EINBLICKE IN DIE PROJEKTDOKUMENTATION</a:t>
            </a:r>
            <a:endParaRPr>
              <a:solidFill>
                <a:srgbClr val="00AE4D"/>
              </a:solidFill>
            </a:endParaRPr>
          </a:p>
        </p:txBody>
      </p:sp>
      <p:sp>
        <p:nvSpPr>
          <p:cNvPr id="195" name="Google Shape;195;p34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196" name="Google Shape;196;p34"/>
          <p:cNvSpPr txBox="1"/>
          <p:nvPr>
            <p:ph idx="11" type="ftr"/>
          </p:nvPr>
        </p:nvSpPr>
        <p:spPr>
          <a:xfrm>
            <a:off x="63500" y="4720829"/>
            <a:ext cx="230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sp>
        <p:nvSpPr>
          <p:cNvPr id="197" name="Google Shape;197;p34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01 · E</a:t>
            </a:r>
            <a:r>
              <a:rPr lang="de" sz="1000">
                <a:solidFill>
                  <a:srgbClr val="00AE4D"/>
                </a:solidFill>
              </a:rPr>
              <a:t>inblicke in die Projektdokumentation</a:t>
            </a:r>
            <a:endParaRPr>
              <a:solidFill>
                <a:srgbClr val="00AE4D"/>
              </a:solidFill>
            </a:endParaRPr>
          </a:p>
        </p:txBody>
      </p:sp>
      <p:pic>
        <p:nvPicPr>
          <p:cNvPr id="198" name="Google Shape;198;p34" title="Bild_2026-01-29_18054598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08" y="1830875"/>
            <a:ext cx="5922989" cy="288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4" title="108632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6800" y="18675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4"/>
          <p:cNvSpPr txBox="1"/>
          <p:nvPr/>
        </p:nvSpPr>
        <p:spPr>
          <a:xfrm>
            <a:off x="7256300" y="3320400"/>
            <a:ext cx="10860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400">
                <a:solidFill>
                  <a:srgbClr val="414141"/>
                </a:solidFill>
              </a:rPr>
              <a:t>GitLab</a:t>
            </a:r>
            <a:endParaRPr sz="2400">
              <a:solidFill>
                <a:srgbClr val="41414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5"/>
          <p:cNvSpPr txBox="1"/>
          <p:nvPr>
            <p:ph idx="1" type="body"/>
          </p:nvPr>
        </p:nvSpPr>
        <p:spPr>
          <a:xfrm>
            <a:off x="685800" y="1485900"/>
            <a:ext cx="8001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Arbeitsorganisation: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</p:txBody>
      </p:sp>
      <p:sp>
        <p:nvSpPr>
          <p:cNvPr id="206" name="Google Shape;206;p35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EINBLICKE IN DIE PROJEKTDOKUMENTATION</a:t>
            </a:r>
            <a:endParaRPr>
              <a:solidFill>
                <a:srgbClr val="00AE4D"/>
              </a:solidFill>
            </a:endParaRPr>
          </a:p>
        </p:txBody>
      </p:sp>
      <p:sp>
        <p:nvSpPr>
          <p:cNvPr id="207" name="Google Shape;207;p35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208" name="Google Shape;208;p35"/>
          <p:cNvSpPr txBox="1"/>
          <p:nvPr>
            <p:ph idx="11" type="ftr"/>
          </p:nvPr>
        </p:nvSpPr>
        <p:spPr>
          <a:xfrm>
            <a:off x="63500" y="4720829"/>
            <a:ext cx="230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sp>
        <p:nvSpPr>
          <p:cNvPr id="209" name="Google Shape;209;p35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01 · E</a:t>
            </a:r>
            <a:r>
              <a:rPr lang="de" sz="1000">
                <a:solidFill>
                  <a:srgbClr val="00AE4D"/>
                </a:solidFill>
              </a:rPr>
              <a:t>inblicke in die Projektdokumentation</a:t>
            </a:r>
            <a:endParaRPr>
              <a:solidFill>
                <a:srgbClr val="00AE4D"/>
              </a:solidFill>
            </a:endParaRPr>
          </a:p>
        </p:txBody>
      </p:sp>
      <p:pic>
        <p:nvPicPr>
          <p:cNvPr id="210" name="Google Shape;210;p35" title="Google_Docs_2020_Logo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6577" y="1485900"/>
            <a:ext cx="1355774" cy="1864177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5"/>
          <p:cNvSpPr txBox="1"/>
          <p:nvPr/>
        </p:nvSpPr>
        <p:spPr>
          <a:xfrm>
            <a:off x="7112013" y="3444525"/>
            <a:ext cx="1704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rgbClr val="414141"/>
                </a:solidFill>
              </a:rPr>
              <a:t>Google Docs</a:t>
            </a:r>
            <a:endParaRPr sz="2000">
              <a:solidFill>
                <a:srgbClr val="414141"/>
              </a:solidFill>
            </a:endParaRPr>
          </a:p>
        </p:txBody>
      </p:sp>
      <p:pic>
        <p:nvPicPr>
          <p:cNvPr id="212" name="Google Shape;212;p35" title="Bild_2026-01-29_18123885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4775" y="1916450"/>
            <a:ext cx="6105476" cy="270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6"/>
          <p:cNvSpPr txBox="1"/>
          <p:nvPr>
            <p:ph idx="1" type="body"/>
          </p:nvPr>
        </p:nvSpPr>
        <p:spPr>
          <a:xfrm>
            <a:off x="685800" y="1485900"/>
            <a:ext cx="8001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Reflexion (kurz)</a:t>
            </a:r>
            <a:r>
              <a:rPr lang="de" sz="2000">
                <a:solidFill>
                  <a:srgbClr val="00AE4D"/>
                </a:solidFill>
              </a:rPr>
              <a:t>: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de" sz="2000">
                <a:solidFill>
                  <a:schemeClr val="dk1"/>
                </a:solidFill>
              </a:rPr>
              <a:t>gute Teamkoordination und Kommunikation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de" sz="2000">
                <a:solidFill>
                  <a:schemeClr val="dk1"/>
                </a:solidFill>
              </a:rPr>
              <a:t>gemeinsame Lösung von Problemen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de" sz="2000">
                <a:solidFill>
                  <a:schemeClr val="dk1"/>
                </a:solidFill>
              </a:rPr>
              <a:t>Stress und kurzfristige Änderungen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de" sz="2000">
                <a:solidFill>
                  <a:schemeClr val="dk1"/>
                </a:solidFill>
              </a:rPr>
              <a:t>Erfahrungen in Zusammenarbeit und Projektplanung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de" sz="2000">
                <a:solidFill>
                  <a:schemeClr val="dk1"/>
                </a:solidFill>
              </a:rPr>
              <a:t>unterschiedliche Rollen = unterschiedliche Arbeitszeiten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</p:txBody>
      </p:sp>
      <p:sp>
        <p:nvSpPr>
          <p:cNvPr id="218" name="Google Shape;218;p36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EINBLICKE IN DIE PROJEKTDOKUMENTATION</a:t>
            </a:r>
            <a:endParaRPr>
              <a:solidFill>
                <a:srgbClr val="00AE4D"/>
              </a:solidFill>
            </a:endParaRPr>
          </a:p>
        </p:txBody>
      </p:sp>
      <p:sp>
        <p:nvSpPr>
          <p:cNvPr id="219" name="Google Shape;219;p36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220" name="Google Shape;220;p36"/>
          <p:cNvSpPr txBox="1"/>
          <p:nvPr>
            <p:ph idx="11" type="ftr"/>
          </p:nvPr>
        </p:nvSpPr>
        <p:spPr>
          <a:xfrm>
            <a:off x="63500" y="4720829"/>
            <a:ext cx="230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sp>
        <p:nvSpPr>
          <p:cNvPr id="221" name="Google Shape;221;p36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01 · E</a:t>
            </a:r>
            <a:r>
              <a:rPr lang="de" sz="1000">
                <a:solidFill>
                  <a:srgbClr val="00AE4D"/>
                </a:solidFill>
              </a:rPr>
              <a:t>inblicke in die Projektdokumentation</a:t>
            </a:r>
            <a:endParaRPr>
              <a:solidFill>
                <a:srgbClr val="00AE4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7"/>
          <p:cNvSpPr txBox="1"/>
          <p:nvPr>
            <p:ph idx="1" type="body"/>
          </p:nvPr>
        </p:nvSpPr>
        <p:spPr>
          <a:xfrm>
            <a:off x="685800" y="1167595"/>
            <a:ext cx="800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Softwareprodukt im Überblick 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28" name="Google Shape;228;p37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GESAMTÜBERBLICK ÜBER DAS DOKUMENTIERTE SOFTWAREPRODUKT</a:t>
            </a:r>
            <a:br>
              <a:rPr lang="de">
                <a:solidFill>
                  <a:srgbClr val="00AE4D"/>
                </a:solidFill>
              </a:rPr>
            </a:br>
            <a:endParaRPr>
              <a:solidFill>
                <a:srgbClr val="00AE4D"/>
              </a:solidFill>
            </a:endParaRPr>
          </a:p>
        </p:txBody>
      </p:sp>
      <p:sp>
        <p:nvSpPr>
          <p:cNvPr id="229" name="Google Shape;229;p37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230" name="Google Shape;230;p37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02 · </a:t>
            </a:r>
            <a:r>
              <a:rPr lang="de" sz="1000">
                <a:solidFill>
                  <a:srgbClr val="00AE4D"/>
                </a:solidFill>
              </a:rPr>
              <a:t>Gesamtüberblick über das dokumentierte Softwareprodukt</a:t>
            </a:r>
            <a:endParaRPr>
              <a:solidFill>
                <a:srgbClr val="00AE4D"/>
              </a:solidFill>
            </a:endParaRPr>
          </a:p>
        </p:txBody>
      </p:sp>
      <p:pic>
        <p:nvPicPr>
          <p:cNvPr id="231" name="Google Shape;231;p37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707525"/>
            <a:ext cx="1488924" cy="1488924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7"/>
          <p:cNvSpPr txBox="1"/>
          <p:nvPr/>
        </p:nvSpPr>
        <p:spPr>
          <a:xfrm>
            <a:off x="1804725" y="1707525"/>
            <a:ext cx="6882000" cy="29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414141"/>
                </a:solidFill>
              </a:rPr>
              <a:t>Das Schlaftagebuch </a:t>
            </a:r>
            <a:r>
              <a:rPr lang="de" sz="1800">
                <a:solidFill>
                  <a:srgbClr val="414141"/>
                </a:solidFill>
              </a:rPr>
              <a:t>ist eine digitale Anwendung zur systematischen Erfassung des Schlafverhaltens von Jugendlichen vor einer Untersuchung im Schlaflabor.</a:t>
            </a:r>
            <a:endParaRPr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414141"/>
                </a:solidFill>
              </a:rPr>
              <a:t>QUALITÄTSANFORDERUNGEN</a:t>
            </a:r>
            <a:endParaRPr b="1" sz="20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800">
                <a:solidFill>
                  <a:srgbClr val="414141"/>
                </a:solidFill>
              </a:rPr>
              <a:t>Datenschutz </a:t>
            </a:r>
            <a:r>
              <a:rPr i="1" lang="de" sz="1800">
                <a:solidFill>
                  <a:srgbClr val="414141"/>
                </a:solidFill>
              </a:rPr>
              <a:t>und Sicherheit</a:t>
            </a:r>
            <a:r>
              <a:rPr i="1" lang="de" sz="1800">
                <a:solidFill>
                  <a:srgbClr val="414141"/>
                </a:solidFill>
              </a:rPr>
              <a:t>, Benutzerfreundlichkeit (einschließlich Mehrsprachigkeit), Zuverlässigkeit. </a:t>
            </a:r>
            <a:endParaRPr i="1" sz="1800">
              <a:solidFill>
                <a:srgbClr val="41414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8"/>
          <p:cNvSpPr txBox="1"/>
          <p:nvPr>
            <p:ph idx="1" type="body"/>
          </p:nvPr>
        </p:nvSpPr>
        <p:spPr>
          <a:xfrm>
            <a:off x="685800" y="1167595"/>
            <a:ext cx="800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Softwareprodukt im Überblick 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39" name="Google Shape;239;p38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GESAMTÜBERBLICK ÜBER DAS DOKUMENTIERTE SOFTWAREPRODUKT</a:t>
            </a:r>
            <a:br>
              <a:rPr lang="de">
                <a:solidFill>
                  <a:srgbClr val="00AE4D"/>
                </a:solidFill>
              </a:rPr>
            </a:br>
            <a:endParaRPr>
              <a:solidFill>
                <a:srgbClr val="00AE4D"/>
              </a:solidFill>
            </a:endParaRPr>
          </a:p>
        </p:txBody>
      </p:sp>
      <p:sp>
        <p:nvSpPr>
          <p:cNvPr id="240" name="Google Shape;240;p38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241" name="Google Shape;241;p38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02 · </a:t>
            </a:r>
            <a:r>
              <a:rPr lang="de" sz="1000">
                <a:solidFill>
                  <a:srgbClr val="00AE4D"/>
                </a:solidFill>
              </a:rPr>
              <a:t>Gesamtüberblick über das dokumentierte Softwareprodukt</a:t>
            </a:r>
            <a:endParaRPr>
              <a:solidFill>
                <a:srgbClr val="00AE4D"/>
              </a:solidFill>
            </a:endParaRPr>
          </a:p>
        </p:txBody>
      </p:sp>
      <p:pic>
        <p:nvPicPr>
          <p:cNvPr id="242" name="Google Shape;242;p38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707525"/>
            <a:ext cx="1488924" cy="148892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8"/>
          <p:cNvSpPr txBox="1"/>
          <p:nvPr/>
        </p:nvSpPr>
        <p:spPr>
          <a:xfrm>
            <a:off x="1757850" y="1615975"/>
            <a:ext cx="6965700" cy="30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414141"/>
                </a:solidFill>
              </a:rPr>
              <a:t>QUALITÄTSSZENARIEN</a:t>
            </a:r>
            <a:endParaRPr b="1" sz="20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414141"/>
                </a:solidFill>
              </a:rPr>
              <a:t>Datenschutz: </a:t>
            </a:r>
            <a:r>
              <a:rPr lang="de" sz="1600">
                <a:solidFill>
                  <a:srgbClr val="414141"/>
                </a:solidFill>
              </a:rPr>
              <a:t>Speicherung nur notwendige personenbezogene Daten. Der Zugriff auf Daten ist rollenbasiert und erfolgt über gültige Authentifizierungs-Tokens (JWT).</a:t>
            </a:r>
            <a:endParaRPr sz="16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414141"/>
                </a:solidFill>
              </a:rPr>
              <a:t>Benutzerfreundlichkeit: </a:t>
            </a:r>
            <a:r>
              <a:rPr lang="de" sz="1600">
                <a:solidFill>
                  <a:srgbClr val="414141"/>
                </a:solidFill>
              </a:rPr>
              <a:t>Mehrsprachigkeit, klare Benutzeroberfläche, das Ausfüllen des Protokolls ist in ungefähr 5 minuten möglich. </a:t>
            </a:r>
            <a:br>
              <a:rPr lang="de" sz="1600">
                <a:solidFill>
                  <a:srgbClr val="414141"/>
                </a:solidFill>
              </a:rPr>
            </a:br>
            <a:endParaRPr sz="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414141"/>
                </a:solidFill>
              </a:rPr>
              <a:t>Zuverlässigkeit: </a:t>
            </a:r>
            <a:r>
              <a:rPr lang="de" sz="1600">
                <a:solidFill>
                  <a:srgbClr val="414141"/>
                </a:solidFill>
              </a:rPr>
              <a:t>Das Protokoll wird sowohl auf dem Server als auch lokal gespeichert. Dies verhindert Datenverlust bei fehlendem Zugriff auf das Backend. </a:t>
            </a:r>
            <a:endParaRPr sz="16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41414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9"/>
          <p:cNvSpPr txBox="1"/>
          <p:nvPr>
            <p:ph idx="1" type="body"/>
          </p:nvPr>
        </p:nvSpPr>
        <p:spPr>
          <a:xfrm>
            <a:off x="685800" y="1167595"/>
            <a:ext cx="800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Softwareprodukt im Überblick 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50" name="Google Shape;250;p39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GESAMTÜBERBLICK ÜBER DAS DOKUMENTIERTE SOFTWAREPRODUKT</a:t>
            </a:r>
            <a:br>
              <a:rPr lang="de">
                <a:solidFill>
                  <a:srgbClr val="00AE4D"/>
                </a:solidFill>
              </a:rPr>
            </a:br>
            <a:endParaRPr>
              <a:solidFill>
                <a:srgbClr val="00AE4D"/>
              </a:solidFill>
            </a:endParaRPr>
          </a:p>
        </p:txBody>
      </p:sp>
      <p:sp>
        <p:nvSpPr>
          <p:cNvPr id="251" name="Google Shape;251;p39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252" name="Google Shape;252;p39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02 · </a:t>
            </a:r>
            <a:r>
              <a:rPr lang="de" sz="1000">
                <a:solidFill>
                  <a:srgbClr val="00AE4D"/>
                </a:solidFill>
              </a:rPr>
              <a:t>Gesamtüberblick über das dokumentierte Softwareprodukt</a:t>
            </a:r>
            <a:endParaRPr>
              <a:solidFill>
                <a:srgbClr val="00AE4D"/>
              </a:solidFill>
            </a:endParaRPr>
          </a:p>
        </p:txBody>
      </p:sp>
      <p:pic>
        <p:nvPicPr>
          <p:cNvPr id="253" name="Google Shape;253;p39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707525"/>
            <a:ext cx="1488924" cy="148892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9"/>
          <p:cNvSpPr txBox="1"/>
          <p:nvPr/>
        </p:nvSpPr>
        <p:spPr>
          <a:xfrm>
            <a:off x="1804725" y="1615975"/>
            <a:ext cx="6882000" cy="30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414141"/>
                </a:solidFill>
              </a:rPr>
              <a:t>QUALITÄTSSZENARIEN</a:t>
            </a:r>
            <a:endParaRPr b="1" sz="20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414141"/>
                </a:solidFill>
              </a:rPr>
              <a:t>Sicherheit</a:t>
            </a:r>
            <a:r>
              <a:rPr b="1" lang="de" sz="1600">
                <a:solidFill>
                  <a:srgbClr val="414141"/>
                </a:solidFill>
              </a:rPr>
              <a:t>: </a:t>
            </a:r>
            <a:r>
              <a:rPr lang="de" sz="1600">
                <a:solidFill>
                  <a:srgbClr val="414141"/>
                </a:solidFill>
              </a:rPr>
              <a:t>100% der nicht autorisierten Zugriffe werden blockiert; keine sensiblen Daten werden ausgeliefert.</a:t>
            </a:r>
            <a:endParaRPr sz="16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" sz="1600">
                <a:solidFill>
                  <a:srgbClr val="414141"/>
                </a:solidFill>
              </a:rPr>
              <a:t>Performance / Leistungsfähigkeit: </a:t>
            </a:r>
            <a:r>
              <a:rPr lang="de" sz="1600">
                <a:solidFill>
                  <a:srgbClr val="414141"/>
                </a:solidFill>
              </a:rPr>
              <a:t>Die PDF-Generierung erfolgt innerhalb von maximal 5 Sekunden unter Normalbedingungen, Fehlermeldung ist möglich, aber ohne Systemabsturz.</a:t>
            </a:r>
            <a:endParaRPr sz="16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41414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0"/>
          <p:cNvSpPr txBox="1"/>
          <p:nvPr>
            <p:ph idx="1" type="body"/>
          </p:nvPr>
        </p:nvSpPr>
        <p:spPr>
          <a:xfrm>
            <a:off x="685800" y="1167595"/>
            <a:ext cx="800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Softwareprodukt im Überblick 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61" name="Google Shape;261;p40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GESAMTÜBERBLICK ÜBER DAS DOKUMENTIERTE SOFTWAREPRODUKT</a:t>
            </a:r>
            <a:br>
              <a:rPr lang="de">
                <a:solidFill>
                  <a:srgbClr val="00AE4D"/>
                </a:solidFill>
              </a:rPr>
            </a:br>
            <a:endParaRPr>
              <a:solidFill>
                <a:srgbClr val="00AE4D"/>
              </a:solidFill>
            </a:endParaRPr>
          </a:p>
        </p:txBody>
      </p:sp>
      <p:sp>
        <p:nvSpPr>
          <p:cNvPr id="262" name="Google Shape;262;p40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263" name="Google Shape;263;p40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02 · </a:t>
            </a:r>
            <a:r>
              <a:rPr lang="de" sz="1000">
                <a:solidFill>
                  <a:srgbClr val="00AE4D"/>
                </a:solidFill>
              </a:rPr>
              <a:t>Gesamtüberblick über das dokumentierte Softwareprodukt</a:t>
            </a:r>
            <a:endParaRPr>
              <a:solidFill>
                <a:srgbClr val="00AE4D"/>
              </a:solidFill>
            </a:endParaRPr>
          </a:p>
        </p:txBody>
      </p:sp>
      <p:sp>
        <p:nvSpPr>
          <p:cNvPr id="264" name="Google Shape;264;p40"/>
          <p:cNvSpPr txBox="1"/>
          <p:nvPr/>
        </p:nvSpPr>
        <p:spPr>
          <a:xfrm>
            <a:off x="685800" y="1609050"/>
            <a:ext cx="8001000" cy="29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414141"/>
                </a:solidFill>
              </a:rPr>
              <a:t>ARCHITEKTUR</a:t>
            </a:r>
            <a:endParaRPr b="1" sz="20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800">
                <a:solidFill>
                  <a:srgbClr val="414141"/>
                </a:solidFill>
              </a:rPr>
              <a:t>App für Patient:innen</a:t>
            </a:r>
            <a:endParaRPr i="1" sz="1800">
              <a:solidFill>
                <a:srgbClr val="41414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800">
                <a:solidFill>
                  <a:srgbClr val="414141"/>
                </a:solidFill>
              </a:rPr>
              <a:t>Web-Oberfläche für Ärzt:innen</a:t>
            </a:r>
            <a:endParaRPr i="1" sz="1800">
              <a:solidFill>
                <a:srgbClr val="41414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800">
                <a:solidFill>
                  <a:srgbClr val="414141"/>
                </a:solidFill>
              </a:rPr>
              <a:t>Zentrale Backend (mit Datenbank)</a:t>
            </a:r>
            <a:endParaRPr i="1" sz="1800">
              <a:solidFill>
                <a:srgbClr val="41414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800">
                <a:solidFill>
                  <a:srgbClr val="414141"/>
                </a:solidFill>
              </a:rPr>
              <a:t>Optional ist auch Koppelung von Smartwatch möglich</a:t>
            </a:r>
            <a:endParaRPr i="1"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414141"/>
              </a:solidFill>
            </a:endParaRPr>
          </a:p>
        </p:txBody>
      </p:sp>
      <p:pic>
        <p:nvPicPr>
          <p:cNvPr id="265" name="Google Shape;265;p40" title="archi.png"/>
          <p:cNvPicPr preferRelativeResize="0"/>
          <p:nvPr/>
        </p:nvPicPr>
        <p:blipFill rotWithShape="1">
          <a:blip r:embed="rId3">
            <a:alphaModFix/>
          </a:blip>
          <a:srcRect b="0" l="57052" r="15564" t="52132"/>
          <a:stretch/>
        </p:blipFill>
        <p:spPr>
          <a:xfrm>
            <a:off x="5774500" y="1009500"/>
            <a:ext cx="1080050" cy="125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0" title="archi.png"/>
          <p:cNvPicPr preferRelativeResize="0"/>
          <p:nvPr/>
        </p:nvPicPr>
        <p:blipFill rotWithShape="1">
          <a:blip r:embed="rId3">
            <a:alphaModFix/>
          </a:blip>
          <a:srcRect b="49472" l="18024" r="60412" t="5638"/>
          <a:stretch/>
        </p:blipFill>
        <p:spPr>
          <a:xfrm>
            <a:off x="5774500" y="1981550"/>
            <a:ext cx="850476" cy="118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40" title="archi.png"/>
          <p:cNvPicPr preferRelativeResize="0"/>
          <p:nvPr/>
        </p:nvPicPr>
        <p:blipFill rotWithShape="1">
          <a:blip r:embed="rId3">
            <a:alphaModFix/>
          </a:blip>
          <a:srcRect b="7553" l="16517" r="56099" t="54353"/>
          <a:stretch/>
        </p:blipFill>
        <p:spPr>
          <a:xfrm>
            <a:off x="6624975" y="3217425"/>
            <a:ext cx="1080050" cy="1001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0" title="archi.png"/>
          <p:cNvPicPr preferRelativeResize="0"/>
          <p:nvPr/>
        </p:nvPicPr>
        <p:blipFill rotWithShape="1">
          <a:blip r:embed="rId3">
            <a:alphaModFix/>
          </a:blip>
          <a:srcRect b="49474" l="50585" r="16639" t="0"/>
          <a:stretch/>
        </p:blipFill>
        <p:spPr>
          <a:xfrm>
            <a:off x="7453663" y="1945888"/>
            <a:ext cx="1292675" cy="1328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40" title="arrows.png"/>
          <p:cNvPicPr preferRelativeResize="0"/>
          <p:nvPr/>
        </p:nvPicPr>
        <p:blipFill rotWithShape="1">
          <a:blip r:embed="rId4">
            <a:alphaModFix/>
          </a:blip>
          <a:srcRect b="65266" l="73319" r="8222" t="10262"/>
          <a:stretch/>
        </p:blipFill>
        <p:spPr>
          <a:xfrm rot="-7455185">
            <a:off x="5253948" y="1395499"/>
            <a:ext cx="1012851" cy="895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0" title="arrows.png"/>
          <p:cNvPicPr preferRelativeResize="0"/>
          <p:nvPr/>
        </p:nvPicPr>
        <p:blipFill rotWithShape="1">
          <a:blip r:embed="rId4">
            <a:alphaModFix/>
          </a:blip>
          <a:srcRect b="47134" l="45295" r="37949" t="40566"/>
          <a:stretch/>
        </p:blipFill>
        <p:spPr>
          <a:xfrm>
            <a:off x="6689000" y="2438738"/>
            <a:ext cx="700654" cy="342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0" title="arrows.png"/>
          <p:cNvPicPr preferRelativeResize="0"/>
          <p:nvPr/>
        </p:nvPicPr>
        <p:blipFill rotWithShape="1">
          <a:blip r:embed="rId4">
            <a:alphaModFix/>
          </a:blip>
          <a:srcRect b="47134" l="45295" r="37949" t="40566"/>
          <a:stretch/>
        </p:blipFill>
        <p:spPr>
          <a:xfrm rot="2972091">
            <a:off x="6073675" y="3158563"/>
            <a:ext cx="700653" cy="342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0" title="arrows.png"/>
          <p:cNvPicPr preferRelativeResize="0"/>
          <p:nvPr/>
        </p:nvPicPr>
        <p:blipFill rotWithShape="1">
          <a:blip r:embed="rId4">
            <a:alphaModFix/>
          </a:blip>
          <a:srcRect b="47134" l="45295" r="37949" t="40566"/>
          <a:stretch/>
        </p:blipFill>
        <p:spPr>
          <a:xfrm rot="7038764">
            <a:off x="7547775" y="3158562"/>
            <a:ext cx="700653" cy="342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1"/>
          <p:cNvSpPr txBox="1"/>
          <p:nvPr>
            <p:ph idx="1" type="body"/>
          </p:nvPr>
        </p:nvSpPr>
        <p:spPr>
          <a:xfrm>
            <a:off x="685800" y="1167595"/>
            <a:ext cx="800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Softwareprodukt im Überblick 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79" name="Google Shape;279;p41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GESAMTÜBERBLICK ÜBER DAS DOKUMENTIERTE SOFTWAREPRODUKT</a:t>
            </a:r>
            <a:br>
              <a:rPr lang="de">
                <a:solidFill>
                  <a:srgbClr val="00AE4D"/>
                </a:solidFill>
              </a:rPr>
            </a:br>
            <a:endParaRPr>
              <a:solidFill>
                <a:srgbClr val="00AE4D"/>
              </a:solidFill>
            </a:endParaRPr>
          </a:p>
        </p:txBody>
      </p:sp>
      <p:sp>
        <p:nvSpPr>
          <p:cNvPr id="280" name="Google Shape;280;p41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281" name="Google Shape;281;p41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02 · </a:t>
            </a:r>
            <a:r>
              <a:rPr lang="de" sz="1000">
                <a:solidFill>
                  <a:srgbClr val="00AE4D"/>
                </a:solidFill>
              </a:rPr>
              <a:t>Gesamtüberblick über das dokumentierte Softwareprodukt</a:t>
            </a:r>
            <a:endParaRPr>
              <a:solidFill>
                <a:srgbClr val="00AE4D"/>
              </a:solidFill>
            </a:endParaRPr>
          </a:p>
        </p:txBody>
      </p:sp>
      <p:sp>
        <p:nvSpPr>
          <p:cNvPr id="282" name="Google Shape;282;p41"/>
          <p:cNvSpPr txBox="1"/>
          <p:nvPr/>
        </p:nvSpPr>
        <p:spPr>
          <a:xfrm>
            <a:off x="685800" y="1593000"/>
            <a:ext cx="8130000" cy="30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414141"/>
                </a:solidFill>
              </a:rPr>
              <a:t>START</a:t>
            </a:r>
            <a:endParaRPr b="1" sz="20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41414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800"/>
              <a:buChar char="-"/>
            </a:pPr>
            <a:r>
              <a:rPr i="1" lang="de" sz="1800">
                <a:solidFill>
                  <a:srgbClr val="414141"/>
                </a:solidFill>
              </a:rPr>
              <a:t>Docker Desktop</a:t>
            </a:r>
            <a:endParaRPr i="1" sz="1800">
              <a:solidFill>
                <a:srgbClr val="41414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800"/>
              <a:buChar char="-"/>
            </a:pPr>
            <a:r>
              <a:rPr i="1" lang="de" sz="1800">
                <a:solidFill>
                  <a:srgbClr val="414141"/>
                </a:solidFill>
              </a:rPr>
              <a:t>Java JDK 17 (!)</a:t>
            </a:r>
            <a:endParaRPr i="1" sz="1800">
              <a:solidFill>
                <a:srgbClr val="41414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800"/>
              <a:buChar char="-"/>
            </a:pPr>
            <a:r>
              <a:rPr i="1" lang="de" sz="1800">
                <a:solidFill>
                  <a:srgbClr val="414141"/>
                </a:solidFill>
              </a:rPr>
              <a:t>IntelliJ IDEA (Backend)</a:t>
            </a:r>
            <a:endParaRPr i="1" sz="1800">
              <a:solidFill>
                <a:srgbClr val="41414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800"/>
              <a:buChar char="-"/>
            </a:pPr>
            <a:r>
              <a:rPr i="1" lang="de" sz="1800">
                <a:solidFill>
                  <a:srgbClr val="414141"/>
                </a:solidFill>
              </a:rPr>
              <a:t>Android Studio (Patient:in App)</a:t>
            </a:r>
            <a:endParaRPr i="1" sz="1800">
              <a:solidFill>
                <a:srgbClr val="41414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800"/>
              <a:buChar char="-"/>
            </a:pPr>
            <a:r>
              <a:rPr i="1" lang="de" sz="1800">
                <a:solidFill>
                  <a:srgbClr val="414141"/>
                </a:solidFill>
              </a:rPr>
              <a:t>Visual Studio Code + Live Server (Web-Anwendung für Ärzt:in)</a:t>
            </a:r>
            <a:endParaRPr i="1"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41414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2"/>
          <p:cNvSpPr txBox="1"/>
          <p:nvPr>
            <p:ph idx="1" type="body"/>
          </p:nvPr>
        </p:nvSpPr>
        <p:spPr>
          <a:xfrm>
            <a:off x="685800" y="1167595"/>
            <a:ext cx="800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Softwareprodukt im Überblick 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89" name="Google Shape;289;p42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GESAMTÜBERBLICK ÜBER DAS DOKUMENTIERTE SOFTWAREPRODUKT</a:t>
            </a:r>
            <a:br>
              <a:rPr lang="de">
                <a:solidFill>
                  <a:srgbClr val="00AE4D"/>
                </a:solidFill>
              </a:rPr>
            </a:br>
            <a:endParaRPr>
              <a:solidFill>
                <a:srgbClr val="00AE4D"/>
              </a:solidFill>
            </a:endParaRPr>
          </a:p>
        </p:txBody>
      </p:sp>
      <p:sp>
        <p:nvSpPr>
          <p:cNvPr id="290" name="Google Shape;290;p42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291" name="Google Shape;291;p42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02 · </a:t>
            </a:r>
            <a:r>
              <a:rPr lang="de" sz="1000">
                <a:solidFill>
                  <a:srgbClr val="00AE4D"/>
                </a:solidFill>
              </a:rPr>
              <a:t>Gesamtüberblick über das dokumentierte Softwareprodukt</a:t>
            </a:r>
            <a:endParaRPr>
              <a:solidFill>
                <a:srgbClr val="00AE4D"/>
              </a:solidFill>
            </a:endParaRPr>
          </a:p>
        </p:txBody>
      </p:sp>
      <p:sp>
        <p:nvSpPr>
          <p:cNvPr id="292" name="Google Shape;292;p42"/>
          <p:cNvSpPr txBox="1"/>
          <p:nvPr/>
        </p:nvSpPr>
        <p:spPr>
          <a:xfrm>
            <a:off x="685800" y="1590900"/>
            <a:ext cx="5556000" cy="30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414141"/>
                </a:solidFill>
              </a:rPr>
              <a:t>START (BACKEND)</a:t>
            </a:r>
            <a:endParaRPr b="1" sz="20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800">
                <a:solidFill>
                  <a:srgbClr val="414141"/>
                </a:solidFill>
              </a:rPr>
              <a:t>1. IntelliJ: </a:t>
            </a:r>
            <a:r>
              <a:rPr i="1" lang="de" sz="1800">
                <a:solidFill>
                  <a:srgbClr val="414141"/>
                </a:solidFill>
              </a:rPr>
              <a:t>cd … src/back</a:t>
            </a:r>
            <a:endParaRPr i="1"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800">
                <a:solidFill>
                  <a:srgbClr val="414141"/>
                </a:solidFill>
              </a:rPr>
              <a:t>2. Docker Desktop öffnen</a:t>
            </a:r>
            <a:endParaRPr i="1"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800">
                <a:solidFill>
                  <a:srgbClr val="414141"/>
                </a:solidFill>
              </a:rPr>
              <a:t>3. Terminal, cd back: docker compose up -d </a:t>
            </a:r>
            <a:endParaRPr i="1"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800">
                <a:solidFill>
                  <a:srgbClr val="414141"/>
                </a:solidFill>
              </a:rPr>
              <a:t>4. Terminal, cd back: .\gradlew bootRun </a:t>
            </a:r>
            <a:endParaRPr i="1" sz="1800">
              <a:solidFill>
                <a:srgbClr val="41414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800">
                <a:solidFill>
                  <a:srgbClr val="414141"/>
                </a:solidFill>
              </a:rPr>
              <a:t>-&gt; Backend mit der Datenbank ist gestartet</a:t>
            </a:r>
            <a:endParaRPr i="1"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414141"/>
              </a:solidFill>
            </a:endParaRPr>
          </a:p>
        </p:txBody>
      </p:sp>
      <p:pic>
        <p:nvPicPr>
          <p:cNvPr id="293" name="Google Shape;293;p42" title="back.png"/>
          <p:cNvPicPr preferRelativeResize="0"/>
          <p:nvPr/>
        </p:nvPicPr>
        <p:blipFill rotWithShape="1">
          <a:blip r:embed="rId3">
            <a:alphaModFix/>
          </a:blip>
          <a:srcRect b="0" l="0" r="46268" t="85948"/>
          <a:stretch/>
        </p:blipFill>
        <p:spPr>
          <a:xfrm>
            <a:off x="5793625" y="3760500"/>
            <a:ext cx="2893175" cy="49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3"/>
          <p:cNvSpPr txBox="1"/>
          <p:nvPr>
            <p:ph idx="1" type="body"/>
          </p:nvPr>
        </p:nvSpPr>
        <p:spPr>
          <a:xfrm>
            <a:off x="685800" y="1167595"/>
            <a:ext cx="800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Softwareprodukt im Überblick 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00" name="Google Shape;300;p43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GESAMTÜBERBLICK ÜBER DAS DOKUMENTIERTE SOFTWAREPRODUKT</a:t>
            </a:r>
            <a:br>
              <a:rPr lang="de">
                <a:solidFill>
                  <a:srgbClr val="00AE4D"/>
                </a:solidFill>
              </a:rPr>
            </a:br>
            <a:endParaRPr>
              <a:solidFill>
                <a:srgbClr val="00AE4D"/>
              </a:solidFill>
            </a:endParaRPr>
          </a:p>
        </p:txBody>
      </p:sp>
      <p:sp>
        <p:nvSpPr>
          <p:cNvPr id="301" name="Google Shape;301;p43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302" name="Google Shape;302;p43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02 · </a:t>
            </a:r>
            <a:r>
              <a:rPr lang="de" sz="1000">
                <a:solidFill>
                  <a:srgbClr val="00AE4D"/>
                </a:solidFill>
              </a:rPr>
              <a:t>Gesamtüberblick über das dokumentierte Softwareprodukt</a:t>
            </a:r>
            <a:endParaRPr>
              <a:solidFill>
                <a:srgbClr val="00AE4D"/>
              </a:solidFill>
            </a:endParaRPr>
          </a:p>
        </p:txBody>
      </p:sp>
      <p:sp>
        <p:nvSpPr>
          <p:cNvPr id="303" name="Google Shape;303;p43"/>
          <p:cNvSpPr txBox="1"/>
          <p:nvPr/>
        </p:nvSpPr>
        <p:spPr>
          <a:xfrm>
            <a:off x="685800" y="1590900"/>
            <a:ext cx="5556000" cy="30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414141"/>
                </a:solidFill>
              </a:rPr>
              <a:t>START (WEB)</a:t>
            </a:r>
            <a:endParaRPr b="1" sz="20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800">
                <a:solidFill>
                  <a:srgbClr val="414141"/>
                </a:solidFill>
              </a:rPr>
              <a:t>5. Visual Studio Code: cd …src/HTML</a:t>
            </a:r>
            <a:endParaRPr i="1"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800">
                <a:solidFill>
                  <a:srgbClr val="414141"/>
                </a:solidFill>
              </a:rPr>
              <a:t>6. login.html mit Live Server öffnen</a:t>
            </a:r>
            <a:endParaRPr i="1"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414141"/>
              </a:solidFill>
            </a:endParaRPr>
          </a:p>
        </p:txBody>
      </p:sp>
      <p:pic>
        <p:nvPicPr>
          <p:cNvPr id="304" name="Google Shape;304;p43" title="Screenshot 2026-01-29 102713.png"/>
          <p:cNvPicPr preferRelativeResize="0"/>
          <p:nvPr/>
        </p:nvPicPr>
        <p:blipFill rotWithShape="1">
          <a:blip r:embed="rId3">
            <a:alphaModFix/>
          </a:blip>
          <a:srcRect b="70725" l="45521" r="4161" t="0"/>
          <a:stretch/>
        </p:blipFill>
        <p:spPr>
          <a:xfrm>
            <a:off x="6933350" y="1976850"/>
            <a:ext cx="1562450" cy="38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43" title="Screenshot 2026-01-29 102713.png"/>
          <p:cNvPicPr preferRelativeResize="0"/>
          <p:nvPr/>
        </p:nvPicPr>
        <p:blipFill rotWithShape="1">
          <a:blip r:embed="rId3">
            <a:alphaModFix/>
          </a:blip>
          <a:srcRect b="0" l="3894" r="57735" t="0"/>
          <a:stretch/>
        </p:blipFill>
        <p:spPr>
          <a:xfrm>
            <a:off x="5590325" y="1468125"/>
            <a:ext cx="1191475" cy="130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4"/>
          <p:cNvSpPr txBox="1"/>
          <p:nvPr>
            <p:ph idx="1" type="body"/>
          </p:nvPr>
        </p:nvSpPr>
        <p:spPr>
          <a:xfrm>
            <a:off x="685800" y="1167595"/>
            <a:ext cx="800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Softwareprodukt im Überblick 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12" name="Google Shape;312;p44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GESAMTÜBERBLICK ÜBER DAS DOKUMENTIERTE SOFTWAREPRODUKT</a:t>
            </a:r>
            <a:br>
              <a:rPr lang="de">
                <a:solidFill>
                  <a:srgbClr val="00AE4D"/>
                </a:solidFill>
              </a:rPr>
            </a:br>
            <a:endParaRPr>
              <a:solidFill>
                <a:srgbClr val="00AE4D"/>
              </a:solidFill>
            </a:endParaRPr>
          </a:p>
        </p:txBody>
      </p:sp>
      <p:sp>
        <p:nvSpPr>
          <p:cNvPr id="313" name="Google Shape;313;p44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314" name="Google Shape;314;p44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02 · </a:t>
            </a:r>
            <a:r>
              <a:rPr lang="de" sz="1000">
                <a:solidFill>
                  <a:srgbClr val="00AE4D"/>
                </a:solidFill>
              </a:rPr>
              <a:t>Gesamtüberblick über das dokumentierte Softwareprodukt</a:t>
            </a:r>
            <a:endParaRPr>
              <a:solidFill>
                <a:srgbClr val="00AE4D"/>
              </a:solidFill>
            </a:endParaRPr>
          </a:p>
        </p:txBody>
      </p:sp>
      <p:sp>
        <p:nvSpPr>
          <p:cNvPr id="315" name="Google Shape;315;p44"/>
          <p:cNvSpPr txBox="1"/>
          <p:nvPr/>
        </p:nvSpPr>
        <p:spPr>
          <a:xfrm>
            <a:off x="685800" y="1590900"/>
            <a:ext cx="6495600" cy="30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414141"/>
                </a:solidFill>
              </a:rPr>
              <a:t>START (APP)</a:t>
            </a:r>
            <a:endParaRPr b="1" sz="20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800">
                <a:solidFill>
                  <a:srgbClr val="414141"/>
                </a:solidFill>
              </a:rPr>
              <a:t>7. Android Studio: cd …src/version1</a:t>
            </a:r>
            <a:endParaRPr i="1"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800">
                <a:solidFill>
                  <a:srgbClr val="414141"/>
                </a:solidFill>
              </a:rPr>
              <a:t>8. Play in Emulator (app, Medium Phone API 36.1)</a:t>
            </a:r>
            <a:endParaRPr i="1"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800">
                <a:solidFill>
                  <a:srgbClr val="414141"/>
                </a:solidFill>
              </a:rPr>
              <a:t>WEAR-OS</a:t>
            </a:r>
            <a:endParaRPr b="1"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600">
                <a:solidFill>
                  <a:srgbClr val="414141"/>
                </a:solidFill>
              </a:rPr>
              <a:t>9. Modul “wear” ausführen (Wear-OS-Emulator oder Gerät)</a:t>
            </a:r>
            <a:endParaRPr i="1" sz="16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41414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5"/>
          <p:cNvSpPr txBox="1"/>
          <p:nvPr>
            <p:ph idx="1" type="body"/>
          </p:nvPr>
        </p:nvSpPr>
        <p:spPr>
          <a:xfrm>
            <a:off x="685800" y="1167595"/>
            <a:ext cx="800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Softwareprodukt im Überblick 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22" name="Google Shape;322;p45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GESAMTÜBERBLICK ÜBER DAS DOKUMENTIERTE SOFTWAREPRODUKT</a:t>
            </a:r>
            <a:br>
              <a:rPr lang="de">
                <a:solidFill>
                  <a:srgbClr val="00AE4D"/>
                </a:solidFill>
              </a:rPr>
            </a:br>
            <a:endParaRPr>
              <a:solidFill>
                <a:srgbClr val="00AE4D"/>
              </a:solidFill>
            </a:endParaRPr>
          </a:p>
        </p:txBody>
      </p:sp>
      <p:sp>
        <p:nvSpPr>
          <p:cNvPr id="323" name="Google Shape;323;p45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324" name="Google Shape;324;p45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02 · </a:t>
            </a:r>
            <a:r>
              <a:rPr lang="de" sz="1000">
                <a:solidFill>
                  <a:srgbClr val="00AE4D"/>
                </a:solidFill>
              </a:rPr>
              <a:t>Gesamtüberblick über das dokumentierte Softwareprodukt</a:t>
            </a:r>
            <a:endParaRPr>
              <a:solidFill>
                <a:srgbClr val="00AE4D"/>
              </a:solidFill>
            </a:endParaRPr>
          </a:p>
        </p:txBody>
      </p:sp>
      <p:sp>
        <p:nvSpPr>
          <p:cNvPr id="325" name="Google Shape;325;p45"/>
          <p:cNvSpPr txBox="1"/>
          <p:nvPr/>
        </p:nvSpPr>
        <p:spPr>
          <a:xfrm>
            <a:off x="685800" y="1550700"/>
            <a:ext cx="6495600" cy="30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414141"/>
                </a:solidFill>
              </a:rPr>
              <a:t>WICHTIGSTE FUNKTIONEN &amp; ABLAUF</a:t>
            </a:r>
            <a:endParaRPr b="1" sz="20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414141"/>
              </a:solidFill>
            </a:endParaRPr>
          </a:p>
        </p:txBody>
      </p:sp>
      <p:sp>
        <p:nvSpPr>
          <p:cNvPr id="326" name="Google Shape;326;p45"/>
          <p:cNvSpPr txBox="1"/>
          <p:nvPr/>
        </p:nvSpPr>
        <p:spPr>
          <a:xfrm>
            <a:off x="4318600" y="297665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14141"/>
              </a:solidFill>
            </a:endParaRPr>
          </a:p>
        </p:txBody>
      </p:sp>
      <p:pic>
        <p:nvPicPr>
          <p:cNvPr id="327" name="Google Shape;32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8300" y="935800"/>
            <a:ext cx="3329200" cy="401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6"/>
          <p:cNvSpPr txBox="1"/>
          <p:nvPr>
            <p:ph idx="1" type="body"/>
          </p:nvPr>
        </p:nvSpPr>
        <p:spPr>
          <a:xfrm>
            <a:off x="685800" y="1167595"/>
            <a:ext cx="800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Softwareprodukt im Überblick 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34" name="Google Shape;334;p46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GESAMTÜBERBLICK ÜBER DAS DOKUMENTIERTE SOFTWAREPRODUKT</a:t>
            </a:r>
            <a:br>
              <a:rPr lang="de">
                <a:solidFill>
                  <a:srgbClr val="00AE4D"/>
                </a:solidFill>
              </a:rPr>
            </a:br>
            <a:endParaRPr>
              <a:solidFill>
                <a:srgbClr val="00AE4D"/>
              </a:solidFill>
            </a:endParaRPr>
          </a:p>
        </p:txBody>
      </p:sp>
      <p:sp>
        <p:nvSpPr>
          <p:cNvPr id="335" name="Google Shape;335;p46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336" name="Google Shape;336;p46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02 · </a:t>
            </a:r>
            <a:r>
              <a:rPr lang="de" sz="1000">
                <a:solidFill>
                  <a:srgbClr val="00AE4D"/>
                </a:solidFill>
              </a:rPr>
              <a:t>Gesamtüberblick über das dokumentierte Softwareprodukt</a:t>
            </a:r>
            <a:endParaRPr>
              <a:solidFill>
                <a:srgbClr val="00AE4D"/>
              </a:solidFill>
            </a:endParaRPr>
          </a:p>
        </p:txBody>
      </p:sp>
      <p:sp>
        <p:nvSpPr>
          <p:cNvPr id="337" name="Google Shape;337;p46"/>
          <p:cNvSpPr txBox="1"/>
          <p:nvPr/>
        </p:nvSpPr>
        <p:spPr>
          <a:xfrm>
            <a:off x="4318600" y="297665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14141"/>
              </a:solidFill>
            </a:endParaRPr>
          </a:p>
        </p:txBody>
      </p:sp>
      <p:pic>
        <p:nvPicPr>
          <p:cNvPr id="338" name="Google Shape;33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125" y="1621725"/>
            <a:ext cx="5625408" cy="2953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7"/>
          <p:cNvSpPr txBox="1"/>
          <p:nvPr>
            <p:ph idx="1" type="body"/>
          </p:nvPr>
        </p:nvSpPr>
        <p:spPr>
          <a:xfrm>
            <a:off x="685800" y="1167595"/>
            <a:ext cx="800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Softwareprodukt im Überblick 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45" name="Google Shape;345;p47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GESAMTÜBERBLICK ÜBER DAS DOKUMENTIERTE SOFTWAREPRODUKT</a:t>
            </a:r>
            <a:br>
              <a:rPr lang="de">
                <a:solidFill>
                  <a:srgbClr val="00AE4D"/>
                </a:solidFill>
              </a:rPr>
            </a:br>
            <a:endParaRPr>
              <a:solidFill>
                <a:srgbClr val="00AE4D"/>
              </a:solidFill>
            </a:endParaRPr>
          </a:p>
        </p:txBody>
      </p:sp>
      <p:sp>
        <p:nvSpPr>
          <p:cNvPr id="346" name="Google Shape;346;p47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347" name="Google Shape;347;p47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02 · </a:t>
            </a:r>
            <a:r>
              <a:rPr lang="de" sz="1000">
                <a:solidFill>
                  <a:srgbClr val="00AE4D"/>
                </a:solidFill>
              </a:rPr>
              <a:t>Gesamtüberblick über das dokumentierte Softwareprodukt</a:t>
            </a:r>
            <a:endParaRPr>
              <a:solidFill>
                <a:srgbClr val="00AE4D"/>
              </a:solidFill>
            </a:endParaRPr>
          </a:p>
        </p:txBody>
      </p:sp>
      <p:sp>
        <p:nvSpPr>
          <p:cNvPr id="348" name="Google Shape;348;p47"/>
          <p:cNvSpPr txBox="1"/>
          <p:nvPr/>
        </p:nvSpPr>
        <p:spPr>
          <a:xfrm>
            <a:off x="4318600" y="297665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14141"/>
              </a:solidFill>
            </a:endParaRPr>
          </a:p>
        </p:txBody>
      </p:sp>
      <p:pic>
        <p:nvPicPr>
          <p:cNvPr id="349" name="Google Shape;34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700" y="1615350"/>
            <a:ext cx="6231526" cy="2904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8"/>
          <p:cNvSpPr txBox="1"/>
          <p:nvPr>
            <p:ph idx="1" type="body"/>
          </p:nvPr>
        </p:nvSpPr>
        <p:spPr>
          <a:xfrm>
            <a:off x="685800" y="1167595"/>
            <a:ext cx="800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Softwareprodukt im Überblick 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56" name="Google Shape;356;p48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GESAMTÜBERBLICK ÜBER DAS DOKUMENTIERTE SOFTWAREPRODUKT</a:t>
            </a:r>
            <a:br>
              <a:rPr lang="de">
                <a:solidFill>
                  <a:srgbClr val="00AE4D"/>
                </a:solidFill>
              </a:rPr>
            </a:br>
            <a:endParaRPr>
              <a:solidFill>
                <a:srgbClr val="00AE4D"/>
              </a:solidFill>
            </a:endParaRPr>
          </a:p>
        </p:txBody>
      </p:sp>
      <p:sp>
        <p:nvSpPr>
          <p:cNvPr id="357" name="Google Shape;357;p48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358" name="Google Shape;358;p48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02 · </a:t>
            </a:r>
            <a:r>
              <a:rPr lang="de" sz="1000">
                <a:solidFill>
                  <a:srgbClr val="00AE4D"/>
                </a:solidFill>
              </a:rPr>
              <a:t>Gesamtüberblick über das dokumentierte Softwareprodukt</a:t>
            </a:r>
            <a:endParaRPr>
              <a:solidFill>
                <a:srgbClr val="00AE4D"/>
              </a:solidFill>
            </a:endParaRPr>
          </a:p>
        </p:txBody>
      </p:sp>
      <p:pic>
        <p:nvPicPr>
          <p:cNvPr id="359" name="Google Shape;359;p48"/>
          <p:cNvPicPr preferRelativeResize="0"/>
          <p:nvPr/>
        </p:nvPicPr>
        <p:blipFill rotWithShape="1">
          <a:blip r:embed="rId3">
            <a:alphaModFix/>
          </a:blip>
          <a:srcRect b="43438" l="0" r="0" t="0"/>
          <a:stretch/>
        </p:blipFill>
        <p:spPr>
          <a:xfrm>
            <a:off x="832425" y="1722850"/>
            <a:ext cx="4995123" cy="132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2425" y="3690702"/>
            <a:ext cx="4995125" cy="738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48" title="arrows.png"/>
          <p:cNvPicPr preferRelativeResize="0"/>
          <p:nvPr/>
        </p:nvPicPr>
        <p:blipFill rotWithShape="1">
          <a:blip r:embed="rId5">
            <a:alphaModFix/>
          </a:blip>
          <a:srcRect b="47134" l="45295" r="37949" t="40566"/>
          <a:stretch/>
        </p:blipFill>
        <p:spPr>
          <a:xfrm rot="5400000">
            <a:off x="3173639" y="3258548"/>
            <a:ext cx="446024" cy="218299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48"/>
          <p:cNvSpPr/>
          <p:nvPr/>
        </p:nvSpPr>
        <p:spPr>
          <a:xfrm>
            <a:off x="5146900" y="2291025"/>
            <a:ext cx="621900" cy="234900"/>
          </a:xfrm>
          <a:prstGeom prst="ellipse">
            <a:avLst/>
          </a:prstGeom>
          <a:noFill/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9"/>
          <p:cNvSpPr txBox="1"/>
          <p:nvPr>
            <p:ph idx="1" type="body"/>
          </p:nvPr>
        </p:nvSpPr>
        <p:spPr>
          <a:xfrm>
            <a:off x="685800" y="1167595"/>
            <a:ext cx="800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Softwareprodukt im Überblick 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69" name="Google Shape;369;p49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GESAMTÜBERBLICK ÜBER DAS DOKUMENTIERTE SOFTWAREPRODUKT</a:t>
            </a:r>
            <a:br>
              <a:rPr lang="de">
                <a:solidFill>
                  <a:srgbClr val="00AE4D"/>
                </a:solidFill>
              </a:rPr>
            </a:br>
            <a:endParaRPr>
              <a:solidFill>
                <a:srgbClr val="00AE4D"/>
              </a:solidFill>
            </a:endParaRPr>
          </a:p>
        </p:txBody>
      </p:sp>
      <p:sp>
        <p:nvSpPr>
          <p:cNvPr id="370" name="Google Shape;370;p49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371" name="Google Shape;371;p49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02 · </a:t>
            </a:r>
            <a:r>
              <a:rPr lang="de" sz="1000">
                <a:solidFill>
                  <a:srgbClr val="00AE4D"/>
                </a:solidFill>
              </a:rPr>
              <a:t>Gesamtüberblick über das dokumentierte Softwareprodukt</a:t>
            </a:r>
            <a:endParaRPr>
              <a:solidFill>
                <a:srgbClr val="00AE4D"/>
              </a:solidFill>
            </a:endParaRPr>
          </a:p>
        </p:txBody>
      </p:sp>
      <p:pic>
        <p:nvPicPr>
          <p:cNvPr id="372" name="Google Shape;372;p49" title="arrows.png"/>
          <p:cNvPicPr preferRelativeResize="0"/>
          <p:nvPr/>
        </p:nvPicPr>
        <p:blipFill rotWithShape="1">
          <a:blip r:embed="rId3">
            <a:alphaModFix/>
          </a:blip>
          <a:srcRect b="47134" l="45295" r="37949" t="40566"/>
          <a:stretch/>
        </p:blipFill>
        <p:spPr>
          <a:xfrm>
            <a:off x="1953526" y="2812227"/>
            <a:ext cx="333650" cy="16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49"/>
          <p:cNvPicPr preferRelativeResize="0"/>
          <p:nvPr/>
        </p:nvPicPr>
        <p:blipFill rotWithShape="1">
          <a:blip r:embed="rId4">
            <a:alphaModFix/>
          </a:blip>
          <a:srcRect b="0" l="0" r="0" t="457"/>
          <a:stretch/>
        </p:blipFill>
        <p:spPr>
          <a:xfrm>
            <a:off x="770850" y="1669100"/>
            <a:ext cx="1134400" cy="255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35462" y="1673687"/>
            <a:ext cx="1134400" cy="2550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49"/>
          <p:cNvPicPr preferRelativeResize="0"/>
          <p:nvPr/>
        </p:nvPicPr>
        <p:blipFill rotWithShape="1">
          <a:blip r:embed="rId6">
            <a:alphaModFix/>
          </a:blip>
          <a:srcRect b="0" l="0" r="0" t="388"/>
          <a:stretch/>
        </p:blipFill>
        <p:spPr>
          <a:xfrm>
            <a:off x="3900075" y="1683142"/>
            <a:ext cx="1134400" cy="2531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49" title="arrows.png"/>
          <p:cNvPicPr preferRelativeResize="0"/>
          <p:nvPr/>
        </p:nvPicPr>
        <p:blipFill rotWithShape="1">
          <a:blip r:embed="rId3">
            <a:alphaModFix/>
          </a:blip>
          <a:srcRect b="47134" l="45295" r="37949" t="40566"/>
          <a:stretch/>
        </p:blipFill>
        <p:spPr>
          <a:xfrm>
            <a:off x="3518126" y="2812227"/>
            <a:ext cx="333650" cy="1633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49"/>
          <p:cNvSpPr/>
          <p:nvPr/>
        </p:nvSpPr>
        <p:spPr>
          <a:xfrm>
            <a:off x="1027100" y="3223550"/>
            <a:ext cx="621900" cy="234900"/>
          </a:xfrm>
          <a:prstGeom prst="ellipse">
            <a:avLst/>
          </a:prstGeom>
          <a:noFill/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49"/>
          <p:cNvSpPr/>
          <p:nvPr/>
        </p:nvSpPr>
        <p:spPr>
          <a:xfrm>
            <a:off x="2463618" y="3030375"/>
            <a:ext cx="878100" cy="234900"/>
          </a:xfrm>
          <a:prstGeom prst="ellipse">
            <a:avLst/>
          </a:prstGeom>
          <a:noFill/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49"/>
          <p:cNvSpPr/>
          <p:nvPr/>
        </p:nvSpPr>
        <p:spPr>
          <a:xfrm>
            <a:off x="3939994" y="3736425"/>
            <a:ext cx="165300" cy="163200"/>
          </a:xfrm>
          <a:prstGeom prst="ellipse">
            <a:avLst/>
          </a:prstGeom>
          <a:noFill/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0" name="Google Shape;380;p49" title="arrows.png"/>
          <p:cNvPicPr preferRelativeResize="0"/>
          <p:nvPr/>
        </p:nvPicPr>
        <p:blipFill rotWithShape="1">
          <a:blip r:embed="rId3">
            <a:alphaModFix/>
          </a:blip>
          <a:srcRect b="47134" l="45295" r="37949" t="40566"/>
          <a:stretch/>
        </p:blipFill>
        <p:spPr>
          <a:xfrm>
            <a:off x="5082776" y="2812227"/>
            <a:ext cx="333650" cy="16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64724" y="1697486"/>
            <a:ext cx="1106634" cy="250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29349" y="1711863"/>
            <a:ext cx="1106625" cy="2474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49" title="arrows.png"/>
          <p:cNvPicPr preferRelativeResize="0"/>
          <p:nvPr/>
        </p:nvPicPr>
        <p:blipFill rotWithShape="1">
          <a:blip r:embed="rId3">
            <a:alphaModFix/>
          </a:blip>
          <a:srcRect b="47134" l="45295" r="37949" t="40566"/>
          <a:stretch/>
        </p:blipFill>
        <p:spPr>
          <a:xfrm>
            <a:off x="6633526" y="2812227"/>
            <a:ext cx="333650" cy="1633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49"/>
          <p:cNvSpPr/>
          <p:nvPr/>
        </p:nvSpPr>
        <p:spPr>
          <a:xfrm>
            <a:off x="5700251" y="3410025"/>
            <a:ext cx="663300" cy="234900"/>
          </a:xfrm>
          <a:prstGeom prst="ellipse">
            <a:avLst/>
          </a:prstGeom>
          <a:noFill/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49"/>
          <p:cNvSpPr txBox="1"/>
          <p:nvPr/>
        </p:nvSpPr>
        <p:spPr>
          <a:xfrm>
            <a:off x="685800" y="42772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414141"/>
                </a:solidFill>
              </a:rPr>
              <a:t>PATIENT FIRST LOGIN</a:t>
            </a:r>
            <a:endParaRPr>
              <a:solidFill>
                <a:srgbClr val="41414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0"/>
          <p:cNvSpPr txBox="1"/>
          <p:nvPr>
            <p:ph idx="1" type="body"/>
          </p:nvPr>
        </p:nvSpPr>
        <p:spPr>
          <a:xfrm>
            <a:off x="685800" y="1167595"/>
            <a:ext cx="800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Softwareprodukt im Überblick 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92" name="Google Shape;392;p50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GESAMTÜBERBLICK ÜBER DAS DOKUMENTIERTE SOFTWAREPRODUKT</a:t>
            </a:r>
            <a:br>
              <a:rPr lang="de">
                <a:solidFill>
                  <a:srgbClr val="00AE4D"/>
                </a:solidFill>
              </a:rPr>
            </a:br>
            <a:endParaRPr>
              <a:solidFill>
                <a:srgbClr val="00AE4D"/>
              </a:solidFill>
            </a:endParaRPr>
          </a:p>
        </p:txBody>
      </p:sp>
      <p:sp>
        <p:nvSpPr>
          <p:cNvPr id="393" name="Google Shape;393;p50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394" name="Google Shape;394;p50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02 · </a:t>
            </a:r>
            <a:r>
              <a:rPr lang="de" sz="1000">
                <a:solidFill>
                  <a:srgbClr val="00AE4D"/>
                </a:solidFill>
              </a:rPr>
              <a:t>Gesamtüberblick über das dokumentierte Softwareprodukt</a:t>
            </a:r>
            <a:endParaRPr>
              <a:solidFill>
                <a:srgbClr val="00AE4D"/>
              </a:solidFill>
            </a:endParaRPr>
          </a:p>
        </p:txBody>
      </p:sp>
      <p:pic>
        <p:nvPicPr>
          <p:cNvPr id="395" name="Google Shape;395;p50" title="arrows.png"/>
          <p:cNvPicPr preferRelativeResize="0"/>
          <p:nvPr/>
        </p:nvPicPr>
        <p:blipFill rotWithShape="1">
          <a:blip r:embed="rId3">
            <a:alphaModFix/>
          </a:blip>
          <a:srcRect b="47134" l="45295" r="37949" t="40566"/>
          <a:stretch/>
        </p:blipFill>
        <p:spPr>
          <a:xfrm>
            <a:off x="1960176" y="2812227"/>
            <a:ext cx="333650" cy="16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50" title="arrows.png"/>
          <p:cNvPicPr preferRelativeResize="0"/>
          <p:nvPr/>
        </p:nvPicPr>
        <p:blipFill rotWithShape="1">
          <a:blip r:embed="rId3">
            <a:alphaModFix/>
          </a:blip>
          <a:srcRect b="47134" l="45295" r="37949" t="40566"/>
          <a:stretch/>
        </p:blipFill>
        <p:spPr>
          <a:xfrm>
            <a:off x="3524776" y="2812227"/>
            <a:ext cx="333650" cy="16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700" y="1672450"/>
            <a:ext cx="1134400" cy="2553215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50"/>
          <p:cNvSpPr/>
          <p:nvPr/>
        </p:nvSpPr>
        <p:spPr>
          <a:xfrm>
            <a:off x="1001250" y="3193450"/>
            <a:ext cx="663300" cy="163200"/>
          </a:xfrm>
          <a:prstGeom prst="ellipse">
            <a:avLst/>
          </a:prstGeom>
          <a:noFill/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9" name="Google Shape;399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42099" y="1679525"/>
            <a:ext cx="1134400" cy="2539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06725" y="1666550"/>
            <a:ext cx="1134400" cy="253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50"/>
          <p:cNvSpPr/>
          <p:nvPr/>
        </p:nvSpPr>
        <p:spPr>
          <a:xfrm>
            <a:off x="2427613" y="3443975"/>
            <a:ext cx="951600" cy="311100"/>
          </a:xfrm>
          <a:prstGeom prst="ellipse">
            <a:avLst/>
          </a:prstGeom>
          <a:noFill/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50"/>
          <p:cNvSpPr txBox="1"/>
          <p:nvPr/>
        </p:nvSpPr>
        <p:spPr>
          <a:xfrm>
            <a:off x="685800" y="42772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414141"/>
                </a:solidFill>
              </a:rPr>
              <a:t>EINSTELLUNGEN</a:t>
            </a:r>
            <a:endParaRPr>
              <a:solidFill>
                <a:srgbClr val="41414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1"/>
          <p:cNvSpPr txBox="1"/>
          <p:nvPr>
            <p:ph idx="1" type="body"/>
          </p:nvPr>
        </p:nvSpPr>
        <p:spPr>
          <a:xfrm>
            <a:off x="685800" y="1167595"/>
            <a:ext cx="800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Softwareprodukt im Überblick 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409" name="Google Shape;409;p51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GESAMTÜBERBLICK ÜBER DAS DOKUMENTIERTE SOFTWAREPRODUKT</a:t>
            </a:r>
            <a:br>
              <a:rPr lang="de">
                <a:solidFill>
                  <a:srgbClr val="00AE4D"/>
                </a:solidFill>
              </a:rPr>
            </a:br>
            <a:endParaRPr>
              <a:solidFill>
                <a:srgbClr val="00AE4D"/>
              </a:solidFill>
            </a:endParaRPr>
          </a:p>
        </p:txBody>
      </p:sp>
      <p:sp>
        <p:nvSpPr>
          <p:cNvPr id="410" name="Google Shape;410;p51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411" name="Google Shape;411;p51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02 · </a:t>
            </a:r>
            <a:r>
              <a:rPr lang="de" sz="1000">
                <a:solidFill>
                  <a:srgbClr val="00AE4D"/>
                </a:solidFill>
              </a:rPr>
              <a:t>Gesamtüberblick über das dokumentierte Softwareprodukt</a:t>
            </a:r>
            <a:endParaRPr>
              <a:solidFill>
                <a:srgbClr val="00AE4D"/>
              </a:solidFill>
            </a:endParaRPr>
          </a:p>
        </p:txBody>
      </p:sp>
      <p:pic>
        <p:nvPicPr>
          <p:cNvPr id="412" name="Google Shape;412;p51" title="arrows.png"/>
          <p:cNvPicPr preferRelativeResize="0"/>
          <p:nvPr/>
        </p:nvPicPr>
        <p:blipFill rotWithShape="1">
          <a:blip r:embed="rId3">
            <a:alphaModFix/>
          </a:blip>
          <a:srcRect b="47134" l="45295" r="37949" t="40566"/>
          <a:stretch/>
        </p:blipFill>
        <p:spPr>
          <a:xfrm>
            <a:off x="1953526" y="2798902"/>
            <a:ext cx="333650" cy="16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51" title="arrows.png"/>
          <p:cNvPicPr preferRelativeResize="0"/>
          <p:nvPr/>
        </p:nvPicPr>
        <p:blipFill rotWithShape="1">
          <a:blip r:embed="rId3">
            <a:alphaModFix/>
          </a:blip>
          <a:srcRect b="47134" l="45295" r="37949" t="40566"/>
          <a:stretch/>
        </p:blipFill>
        <p:spPr>
          <a:xfrm>
            <a:off x="3469851" y="2798902"/>
            <a:ext cx="333650" cy="16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474" y="1666200"/>
            <a:ext cx="1134400" cy="2539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39900" y="1682613"/>
            <a:ext cx="1195412" cy="2591786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51"/>
          <p:cNvSpPr/>
          <p:nvPr/>
        </p:nvSpPr>
        <p:spPr>
          <a:xfrm>
            <a:off x="810120" y="2376200"/>
            <a:ext cx="539400" cy="422700"/>
          </a:xfrm>
          <a:prstGeom prst="ellipse">
            <a:avLst/>
          </a:prstGeom>
          <a:noFill/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7" name="Google Shape;417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35450" y="1701463"/>
            <a:ext cx="1134400" cy="2554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51" title="arrows.png"/>
          <p:cNvPicPr preferRelativeResize="0"/>
          <p:nvPr/>
        </p:nvPicPr>
        <p:blipFill rotWithShape="1">
          <a:blip r:embed="rId3">
            <a:alphaModFix/>
          </a:blip>
          <a:srcRect b="47134" l="45295" r="37949" t="40566"/>
          <a:stretch/>
        </p:blipFill>
        <p:spPr>
          <a:xfrm>
            <a:off x="5115376" y="2859927"/>
            <a:ext cx="333650" cy="16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5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29113" y="1694288"/>
            <a:ext cx="1134400" cy="2568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5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57350" y="1703125"/>
            <a:ext cx="1134400" cy="2550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51" title="arrows.png"/>
          <p:cNvPicPr preferRelativeResize="0"/>
          <p:nvPr/>
        </p:nvPicPr>
        <p:blipFill rotWithShape="1">
          <a:blip r:embed="rId3">
            <a:alphaModFix/>
          </a:blip>
          <a:srcRect b="47134" l="45295" r="37949" t="40566"/>
          <a:stretch/>
        </p:blipFill>
        <p:spPr>
          <a:xfrm>
            <a:off x="6743613" y="2859927"/>
            <a:ext cx="333650" cy="16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5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167100" y="4425726"/>
            <a:ext cx="1134400" cy="30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51" title="arrows.png"/>
          <p:cNvPicPr preferRelativeResize="0"/>
          <p:nvPr/>
        </p:nvPicPr>
        <p:blipFill rotWithShape="1">
          <a:blip r:embed="rId3">
            <a:alphaModFix/>
          </a:blip>
          <a:srcRect b="47134" l="45295" r="37949" t="40566"/>
          <a:stretch/>
        </p:blipFill>
        <p:spPr>
          <a:xfrm rot="5400000">
            <a:off x="7657905" y="4302414"/>
            <a:ext cx="152801" cy="74775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51"/>
          <p:cNvSpPr txBox="1"/>
          <p:nvPr/>
        </p:nvSpPr>
        <p:spPr>
          <a:xfrm>
            <a:off x="685800" y="42772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414141"/>
                </a:solidFill>
              </a:rPr>
              <a:t>PROTOKOLL AUSFÜLLEN</a:t>
            </a:r>
            <a:endParaRPr>
              <a:solidFill>
                <a:srgbClr val="41414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2"/>
          <p:cNvSpPr txBox="1"/>
          <p:nvPr>
            <p:ph idx="1" type="body"/>
          </p:nvPr>
        </p:nvSpPr>
        <p:spPr>
          <a:xfrm>
            <a:off x="685800" y="1167595"/>
            <a:ext cx="800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Softwareprodukt im Überblick 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431" name="Google Shape;431;p52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GESAMTÜBERBLICK ÜBER DAS DOKUMENTIERTE SOFTWAREPRODUKT</a:t>
            </a:r>
            <a:br>
              <a:rPr lang="de">
                <a:solidFill>
                  <a:srgbClr val="00AE4D"/>
                </a:solidFill>
              </a:rPr>
            </a:br>
            <a:endParaRPr>
              <a:solidFill>
                <a:srgbClr val="00AE4D"/>
              </a:solidFill>
            </a:endParaRPr>
          </a:p>
        </p:txBody>
      </p:sp>
      <p:sp>
        <p:nvSpPr>
          <p:cNvPr id="432" name="Google Shape;432;p52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433" name="Google Shape;433;p52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02 · </a:t>
            </a:r>
            <a:r>
              <a:rPr lang="de" sz="1000">
                <a:solidFill>
                  <a:srgbClr val="00AE4D"/>
                </a:solidFill>
              </a:rPr>
              <a:t>Gesamtüberblick über das dokumentierte Softwareprodukt</a:t>
            </a:r>
            <a:endParaRPr>
              <a:solidFill>
                <a:srgbClr val="00AE4D"/>
              </a:solidFill>
            </a:endParaRPr>
          </a:p>
        </p:txBody>
      </p:sp>
      <p:pic>
        <p:nvPicPr>
          <p:cNvPr id="434" name="Google Shape;43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425" y="1984657"/>
            <a:ext cx="1648726" cy="2618384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52"/>
          <p:cNvSpPr txBox="1"/>
          <p:nvPr/>
        </p:nvSpPr>
        <p:spPr>
          <a:xfrm>
            <a:off x="766425" y="15585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414141"/>
                </a:solidFill>
              </a:rPr>
              <a:t>APP</a:t>
            </a:r>
            <a:endParaRPr b="1" sz="1600">
              <a:solidFill>
                <a:srgbClr val="414141"/>
              </a:solidFill>
            </a:endParaRPr>
          </a:p>
        </p:txBody>
      </p:sp>
      <p:pic>
        <p:nvPicPr>
          <p:cNvPr id="436" name="Google Shape;436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2875" y="2030450"/>
            <a:ext cx="5739174" cy="1483675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52"/>
          <p:cNvSpPr txBox="1"/>
          <p:nvPr/>
        </p:nvSpPr>
        <p:spPr>
          <a:xfrm>
            <a:off x="3092875" y="1599025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414141"/>
                </a:solidFill>
              </a:rPr>
              <a:t>WEB</a:t>
            </a:r>
            <a:endParaRPr b="1" sz="1600">
              <a:solidFill>
                <a:srgbClr val="414141"/>
              </a:solidFill>
            </a:endParaRPr>
          </a:p>
        </p:txBody>
      </p:sp>
      <p:sp>
        <p:nvSpPr>
          <p:cNvPr id="438" name="Google Shape;438;p52"/>
          <p:cNvSpPr/>
          <p:nvPr/>
        </p:nvSpPr>
        <p:spPr>
          <a:xfrm>
            <a:off x="6680575" y="2793375"/>
            <a:ext cx="478200" cy="172200"/>
          </a:xfrm>
          <a:prstGeom prst="ellipse">
            <a:avLst/>
          </a:prstGeom>
          <a:noFill/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52"/>
          <p:cNvSpPr txBox="1"/>
          <p:nvPr/>
        </p:nvSpPr>
        <p:spPr>
          <a:xfrm>
            <a:off x="3017525" y="42861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414141"/>
                </a:solidFill>
              </a:rPr>
              <a:t>BERICHT ANSEHEN</a:t>
            </a:r>
            <a:endParaRPr>
              <a:solidFill>
                <a:srgbClr val="41414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3"/>
          <p:cNvSpPr txBox="1"/>
          <p:nvPr>
            <p:ph idx="1" type="body"/>
          </p:nvPr>
        </p:nvSpPr>
        <p:spPr>
          <a:xfrm>
            <a:off x="685800" y="1167595"/>
            <a:ext cx="800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Softwareprodukt im Überblick 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446" name="Google Shape;446;p53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GESAMTÜBERBLICK ÜBER DAS DOKUMENTIERTE SOFTWAREPRODUKT</a:t>
            </a:r>
            <a:br>
              <a:rPr lang="de">
                <a:solidFill>
                  <a:srgbClr val="00AE4D"/>
                </a:solidFill>
              </a:rPr>
            </a:br>
            <a:endParaRPr>
              <a:solidFill>
                <a:srgbClr val="00AE4D"/>
              </a:solidFill>
            </a:endParaRPr>
          </a:p>
        </p:txBody>
      </p:sp>
      <p:sp>
        <p:nvSpPr>
          <p:cNvPr id="447" name="Google Shape;447;p53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448" name="Google Shape;448;p53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02 · </a:t>
            </a:r>
            <a:r>
              <a:rPr lang="de" sz="1000">
                <a:solidFill>
                  <a:srgbClr val="00AE4D"/>
                </a:solidFill>
              </a:rPr>
              <a:t>Gesamtüberblick über das dokumentierte Softwareprodukt</a:t>
            </a:r>
            <a:endParaRPr>
              <a:solidFill>
                <a:srgbClr val="00AE4D"/>
              </a:solidFill>
            </a:endParaRPr>
          </a:p>
        </p:txBody>
      </p:sp>
      <p:sp>
        <p:nvSpPr>
          <p:cNvPr id="449" name="Google Shape;449;p53"/>
          <p:cNvSpPr/>
          <p:nvPr/>
        </p:nvSpPr>
        <p:spPr>
          <a:xfrm>
            <a:off x="6962475" y="2891325"/>
            <a:ext cx="478200" cy="172200"/>
          </a:xfrm>
          <a:prstGeom prst="ellipse">
            <a:avLst/>
          </a:prstGeom>
          <a:noFill/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0" name="Google Shape;450;p53" title="Screenshot 2026-01-29 1141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275" y="1662895"/>
            <a:ext cx="2025631" cy="2871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53" title="Screenshot 2026-01-29 114146.png"/>
          <p:cNvPicPr preferRelativeResize="0"/>
          <p:nvPr/>
        </p:nvPicPr>
        <p:blipFill rotWithShape="1">
          <a:blip r:embed="rId4">
            <a:alphaModFix/>
          </a:blip>
          <a:srcRect b="4379" l="0" r="0" t="0"/>
          <a:stretch/>
        </p:blipFill>
        <p:spPr>
          <a:xfrm>
            <a:off x="2529900" y="1662900"/>
            <a:ext cx="2026125" cy="27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53" title="Screenshot 2026-01-29 114158.png"/>
          <p:cNvPicPr preferRelativeResize="0"/>
          <p:nvPr/>
        </p:nvPicPr>
        <p:blipFill rotWithShape="1">
          <a:blip r:embed="rId5">
            <a:alphaModFix/>
          </a:blip>
          <a:srcRect b="15333" l="0" r="0" t="0"/>
          <a:stretch/>
        </p:blipFill>
        <p:spPr>
          <a:xfrm>
            <a:off x="4598525" y="2041474"/>
            <a:ext cx="2012150" cy="243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53" title="Screenshot 2026-01-29 114206.png"/>
          <p:cNvPicPr preferRelativeResize="0"/>
          <p:nvPr/>
        </p:nvPicPr>
        <p:blipFill rotWithShape="1">
          <a:blip r:embed="rId6">
            <a:alphaModFix/>
          </a:blip>
          <a:srcRect b="0" l="6846" r="0" t="0"/>
          <a:stretch/>
        </p:blipFill>
        <p:spPr>
          <a:xfrm>
            <a:off x="6756100" y="2266500"/>
            <a:ext cx="2112224" cy="18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4"/>
          <p:cNvSpPr txBox="1"/>
          <p:nvPr>
            <p:ph idx="1" type="body"/>
          </p:nvPr>
        </p:nvSpPr>
        <p:spPr>
          <a:xfrm>
            <a:off x="685800" y="1167595"/>
            <a:ext cx="800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Softwareprodukt im Überblick 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460" name="Google Shape;460;p54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GESAMTÜBERBLICK ÜBER DAS DOKUMENTIERTE SOFTWAREPRODUKT</a:t>
            </a:r>
            <a:br>
              <a:rPr lang="de">
                <a:solidFill>
                  <a:srgbClr val="00AE4D"/>
                </a:solidFill>
              </a:rPr>
            </a:br>
            <a:endParaRPr>
              <a:solidFill>
                <a:srgbClr val="00AE4D"/>
              </a:solidFill>
            </a:endParaRPr>
          </a:p>
        </p:txBody>
      </p:sp>
      <p:sp>
        <p:nvSpPr>
          <p:cNvPr id="461" name="Google Shape;461;p54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462" name="Google Shape;462;p54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02 · </a:t>
            </a:r>
            <a:r>
              <a:rPr lang="de" sz="1000">
                <a:solidFill>
                  <a:srgbClr val="00AE4D"/>
                </a:solidFill>
              </a:rPr>
              <a:t>Gesamtüberblick über das dokumentierte Softwareprodukt</a:t>
            </a:r>
            <a:endParaRPr>
              <a:solidFill>
                <a:srgbClr val="00AE4D"/>
              </a:solidFill>
            </a:endParaRPr>
          </a:p>
        </p:txBody>
      </p:sp>
      <p:sp>
        <p:nvSpPr>
          <p:cNvPr id="463" name="Google Shape;463;p54"/>
          <p:cNvSpPr txBox="1"/>
          <p:nvPr/>
        </p:nvSpPr>
        <p:spPr>
          <a:xfrm>
            <a:off x="746100" y="1530450"/>
            <a:ext cx="7940700" cy="3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414141"/>
                </a:solidFill>
              </a:rPr>
              <a:t>TESTS</a:t>
            </a:r>
            <a:endParaRPr b="1" sz="16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414141"/>
                </a:solidFill>
              </a:rPr>
              <a:t>Anmelden</a:t>
            </a:r>
            <a:endParaRPr b="1" sz="16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41414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600"/>
              <a:buChar char="●"/>
            </a:pPr>
            <a:r>
              <a:rPr i="1" lang="de" sz="1600">
                <a:solidFill>
                  <a:srgbClr val="414141"/>
                </a:solidFill>
              </a:rPr>
              <a:t>First Login:</a:t>
            </a:r>
            <a:r>
              <a:rPr lang="de" sz="1600">
                <a:solidFill>
                  <a:srgbClr val="414141"/>
                </a:solidFill>
              </a:rPr>
              <a:t> Der Zugangscode ist gültig, Geburtsdatum und Passwort haben das korrekte Format. Die Anmeldung ist erfolgreich.</a:t>
            </a:r>
            <a:endParaRPr sz="1600">
              <a:solidFill>
                <a:srgbClr val="41414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600"/>
              <a:buChar char="●"/>
            </a:pPr>
            <a:r>
              <a:rPr i="1" lang="de" sz="1600">
                <a:solidFill>
                  <a:srgbClr val="414141"/>
                </a:solidFill>
              </a:rPr>
              <a:t>Login: </a:t>
            </a:r>
            <a:r>
              <a:rPr lang="de" sz="1600">
                <a:solidFill>
                  <a:srgbClr val="414141"/>
                </a:solidFill>
              </a:rPr>
              <a:t>Benutzername und Passwort sind korrekt. Der Login wird erfolgreich durchgeführt.</a:t>
            </a:r>
            <a:endParaRPr i="1" sz="1600">
              <a:solidFill>
                <a:srgbClr val="41414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414141"/>
                </a:solidFill>
              </a:rPr>
              <a:t>Patient:innen verwalten</a:t>
            </a:r>
            <a:endParaRPr b="1" sz="1600">
              <a:solidFill>
                <a:srgbClr val="41414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14141"/>
              </a:buClr>
              <a:buSzPts val="1600"/>
              <a:buChar char="●"/>
            </a:pPr>
            <a:r>
              <a:rPr lang="de" sz="1600">
                <a:solidFill>
                  <a:srgbClr val="414141"/>
                </a:solidFill>
              </a:rPr>
              <a:t>Der/die Arzt/Ärztin sieht sofort alle erstellten Zugangscodes sowie bereits vorhandene Berichte.</a:t>
            </a:r>
            <a:endParaRPr sz="16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1414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5"/>
          <p:cNvSpPr txBox="1"/>
          <p:nvPr>
            <p:ph idx="1" type="body"/>
          </p:nvPr>
        </p:nvSpPr>
        <p:spPr>
          <a:xfrm>
            <a:off x="685800" y="1167595"/>
            <a:ext cx="800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Softwareprodukt im Überblick 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470" name="Google Shape;470;p55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GESAMTÜBERBLICK ÜBER DAS DOKUMENTIERTE SOFTWAREPRODUKT</a:t>
            </a:r>
            <a:br>
              <a:rPr lang="de">
                <a:solidFill>
                  <a:srgbClr val="00AE4D"/>
                </a:solidFill>
              </a:rPr>
            </a:br>
            <a:endParaRPr>
              <a:solidFill>
                <a:srgbClr val="00AE4D"/>
              </a:solidFill>
            </a:endParaRPr>
          </a:p>
        </p:txBody>
      </p:sp>
      <p:sp>
        <p:nvSpPr>
          <p:cNvPr id="471" name="Google Shape;471;p55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472" name="Google Shape;472;p55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02 · </a:t>
            </a:r>
            <a:r>
              <a:rPr lang="de" sz="1000">
                <a:solidFill>
                  <a:srgbClr val="00AE4D"/>
                </a:solidFill>
              </a:rPr>
              <a:t>Gesamtüberblick über das dokumentierte Softwareprodukt</a:t>
            </a:r>
            <a:endParaRPr>
              <a:solidFill>
                <a:srgbClr val="00AE4D"/>
              </a:solidFill>
            </a:endParaRPr>
          </a:p>
        </p:txBody>
      </p:sp>
      <p:sp>
        <p:nvSpPr>
          <p:cNvPr id="473" name="Google Shape;473;p55"/>
          <p:cNvSpPr txBox="1"/>
          <p:nvPr/>
        </p:nvSpPr>
        <p:spPr>
          <a:xfrm>
            <a:off x="746100" y="1530450"/>
            <a:ext cx="7940700" cy="3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414141"/>
                </a:solidFill>
              </a:rPr>
              <a:t>TESTS</a:t>
            </a:r>
            <a:endParaRPr b="1" sz="16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414141"/>
                </a:solidFill>
              </a:rPr>
              <a:t>Einstellungen</a:t>
            </a:r>
            <a:endParaRPr b="1" sz="1600">
              <a:solidFill>
                <a:srgbClr val="41414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14141"/>
              </a:buClr>
              <a:buSzPts val="1600"/>
              <a:buChar char="●"/>
            </a:pPr>
            <a:r>
              <a:rPr i="1" lang="de" sz="1600">
                <a:solidFill>
                  <a:srgbClr val="414141"/>
                </a:solidFill>
              </a:rPr>
              <a:t>Sprache: </a:t>
            </a:r>
            <a:r>
              <a:rPr lang="de" sz="1600">
                <a:solidFill>
                  <a:srgbClr val="414141"/>
                </a:solidFill>
              </a:rPr>
              <a:t>Die ausgewählte Sprache wird sofort auf die gesamte App angewendet.</a:t>
            </a:r>
            <a:endParaRPr sz="1600">
              <a:solidFill>
                <a:srgbClr val="41414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600"/>
              <a:buChar char="●"/>
            </a:pPr>
            <a:r>
              <a:rPr i="1" lang="de" sz="1600">
                <a:solidFill>
                  <a:srgbClr val="414141"/>
                </a:solidFill>
              </a:rPr>
              <a:t>Benachrichtigungen:</a:t>
            </a:r>
            <a:r>
              <a:rPr lang="de" sz="1600">
                <a:solidFill>
                  <a:srgbClr val="414141"/>
                </a:solidFill>
              </a:rPr>
              <a:t> Nach der Änderung der Zeit erscheint ein Toast („Zeit geändert“).</a:t>
            </a:r>
            <a:br>
              <a:rPr lang="de" sz="1600">
                <a:solidFill>
                  <a:srgbClr val="414141"/>
                </a:solidFill>
              </a:rPr>
            </a:br>
            <a:r>
              <a:rPr lang="de" sz="1600">
                <a:solidFill>
                  <a:srgbClr val="414141"/>
                </a:solidFill>
              </a:rPr>
              <a:t>*Eine Benachrichtigung wird nur angezeigt, wenn sich der/die Nutzer:in nicht aktiv in der App befindet.</a:t>
            </a:r>
            <a:endParaRPr sz="1600">
              <a:solidFill>
                <a:srgbClr val="41414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600"/>
              <a:buChar char="●"/>
            </a:pPr>
            <a:r>
              <a:rPr i="1" lang="de" sz="1600">
                <a:solidFill>
                  <a:srgbClr val="414141"/>
                </a:solidFill>
              </a:rPr>
              <a:t>Smartwatch:</a:t>
            </a:r>
            <a:r>
              <a:rPr lang="de" sz="1600">
                <a:solidFill>
                  <a:srgbClr val="414141"/>
                </a:solidFill>
              </a:rPr>
              <a:t> Die Daten werden erfolgreich von der Smartwatch übernommen.</a:t>
            </a:r>
            <a:endParaRPr sz="1600">
              <a:solidFill>
                <a:srgbClr val="41414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1414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6"/>
          <p:cNvSpPr txBox="1"/>
          <p:nvPr>
            <p:ph idx="1" type="body"/>
          </p:nvPr>
        </p:nvSpPr>
        <p:spPr>
          <a:xfrm>
            <a:off x="685800" y="1167595"/>
            <a:ext cx="800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Softwareprodukt im Überblick 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480" name="Google Shape;480;p56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GESAMTÜBERBLICK ÜBER DAS DOKUMENTIERTE SOFTWAREPRODUKT</a:t>
            </a:r>
            <a:br>
              <a:rPr lang="de">
                <a:solidFill>
                  <a:srgbClr val="00AE4D"/>
                </a:solidFill>
              </a:rPr>
            </a:br>
            <a:endParaRPr>
              <a:solidFill>
                <a:srgbClr val="00AE4D"/>
              </a:solidFill>
            </a:endParaRPr>
          </a:p>
        </p:txBody>
      </p:sp>
      <p:sp>
        <p:nvSpPr>
          <p:cNvPr id="481" name="Google Shape;481;p56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482" name="Google Shape;482;p56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02 · </a:t>
            </a:r>
            <a:r>
              <a:rPr lang="de" sz="1000">
                <a:solidFill>
                  <a:srgbClr val="00AE4D"/>
                </a:solidFill>
              </a:rPr>
              <a:t>Gesamtüberblick über das dokumentierte Softwareprodukt</a:t>
            </a:r>
            <a:endParaRPr>
              <a:solidFill>
                <a:srgbClr val="00AE4D"/>
              </a:solidFill>
            </a:endParaRPr>
          </a:p>
        </p:txBody>
      </p:sp>
      <p:sp>
        <p:nvSpPr>
          <p:cNvPr id="483" name="Google Shape;483;p56"/>
          <p:cNvSpPr txBox="1"/>
          <p:nvPr/>
        </p:nvSpPr>
        <p:spPr>
          <a:xfrm>
            <a:off x="746100" y="1530450"/>
            <a:ext cx="7940700" cy="3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414141"/>
                </a:solidFill>
              </a:rPr>
              <a:t>TESTS</a:t>
            </a:r>
            <a:endParaRPr b="1" sz="1600">
              <a:solidFill>
                <a:srgbClr val="41414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414141"/>
                </a:solidFill>
              </a:rPr>
              <a:t>Schlafprotokoll ausfüllen</a:t>
            </a:r>
            <a:endParaRPr b="1" sz="1600">
              <a:solidFill>
                <a:srgbClr val="41414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14141"/>
              </a:buClr>
              <a:buSzPts val="1600"/>
              <a:buChar char="●"/>
            </a:pPr>
            <a:r>
              <a:rPr lang="de" sz="1600">
                <a:solidFill>
                  <a:srgbClr val="414141"/>
                </a:solidFill>
              </a:rPr>
              <a:t>Nach dem Absenden erscheint ein Toast („Gespeichert“). Das Schlafprotokoll wird korrekt gespeichert.</a:t>
            </a:r>
            <a:endParaRPr sz="1600">
              <a:solidFill>
                <a:srgbClr val="41414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414141"/>
                </a:solidFill>
              </a:rPr>
              <a:t>Bericht ansehen</a:t>
            </a:r>
            <a:endParaRPr b="1" sz="1600">
              <a:solidFill>
                <a:srgbClr val="41414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14141"/>
              </a:buClr>
              <a:buSzPts val="1600"/>
              <a:buChar char="●"/>
            </a:pPr>
            <a:r>
              <a:rPr lang="de" sz="1600">
                <a:solidFill>
                  <a:srgbClr val="414141"/>
                </a:solidFill>
              </a:rPr>
              <a:t>Der Bericht ist verfügbar und kann angezeigt werden.</a:t>
            </a:r>
            <a:endParaRPr sz="1600">
              <a:solidFill>
                <a:srgbClr val="41414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41414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41414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1414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7"/>
          <p:cNvSpPr txBox="1"/>
          <p:nvPr>
            <p:ph idx="1" type="body"/>
          </p:nvPr>
        </p:nvSpPr>
        <p:spPr>
          <a:xfrm>
            <a:off x="685800" y="1167594"/>
            <a:ext cx="8001000" cy="3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de" sz="2000">
                <a:solidFill>
                  <a:srgbClr val="00AE4D"/>
                </a:solidFill>
              </a:rPr>
              <a:t>Systemarchitektur – Überblick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" sz="1600"/>
              <a:t>Mehrschichtiges System für digitales Schlaftagebuch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" sz="1600"/>
              <a:t>Trennung von: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de" sz="1600"/>
              <a:t>Frontends (Patient &amp; Arzt)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de" sz="1600"/>
              <a:t>Backend (Geschäftslogik)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de" sz="1600"/>
              <a:t>Datenhaltung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" sz="1600"/>
              <a:t>Kommunikation über REST-APIs (HTTP/JSON)</a:t>
            </a:r>
            <a:endParaRPr sz="16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490" name="Google Shape;490;p57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GESAMTÜBERBLICK ÜBER DAS DOKUMENTIERTE SOFTWAREPRODUKT</a:t>
            </a:r>
            <a:br>
              <a:rPr lang="de">
                <a:solidFill>
                  <a:srgbClr val="00AE4D"/>
                </a:solidFill>
              </a:rPr>
            </a:br>
            <a:endParaRPr>
              <a:solidFill>
                <a:srgbClr val="00AE4D"/>
              </a:solidFill>
            </a:endParaRPr>
          </a:p>
        </p:txBody>
      </p:sp>
      <p:sp>
        <p:nvSpPr>
          <p:cNvPr id="491" name="Google Shape;491;p57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492" name="Google Shape;492;p57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02 · </a:t>
            </a:r>
            <a:r>
              <a:rPr lang="de" sz="1000">
                <a:solidFill>
                  <a:srgbClr val="00AE4D"/>
                </a:solidFill>
              </a:rPr>
              <a:t>Gesamtüberblick über das dokumentierte Softwareprodukt</a:t>
            </a:r>
            <a:endParaRPr>
              <a:solidFill>
                <a:srgbClr val="00AE4D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8"/>
          <p:cNvSpPr txBox="1"/>
          <p:nvPr>
            <p:ph idx="1" type="body"/>
          </p:nvPr>
        </p:nvSpPr>
        <p:spPr>
          <a:xfrm>
            <a:off x="685800" y="2006383"/>
            <a:ext cx="39243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de" sz="1600">
                <a:solidFill>
                  <a:schemeClr val="dk1"/>
                </a:solidFill>
              </a:rPr>
              <a:t>Patient:in GUI (Android App)	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de" sz="1600">
                <a:solidFill>
                  <a:schemeClr val="dk1"/>
                </a:solidFill>
              </a:rPr>
              <a:t>Datenbank (PostgreSQL)			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de" sz="1600">
                <a:solidFill>
                  <a:schemeClr val="dk1"/>
                </a:solidFill>
              </a:rPr>
              <a:t>Ärzt:in Web-GUI (Browser)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499" name="Google Shape;499;p58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GESAMTÜBERBLICK ÜBER DAS DOKUMENTIERTE SOFTWAREPRODUKT</a:t>
            </a:r>
            <a:br>
              <a:rPr lang="de">
                <a:solidFill>
                  <a:srgbClr val="00AE4D"/>
                </a:solidFill>
              </a:rPr>
            </a:br>
            <a:endParaRPr>
              <a:solidFill>
                <a:srgbClr val="00AE4D"/>
              </a:solidFill>
            </a:endParaRPr>
          </a:p>
        </p:txBody>
      </p:sp>
      <p:sp>
        <p:nvSpPr>
          <p:cNvPr id="500" name="Google Shape;500;p58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Font typeface="Times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501" name="Google Shape;501;p58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02 · </a:t>
            </a:r>
            <a:r>
              <a:rPr lang="de" sz="1000">
                <a:solidFill>
                  <a:srgbClr val="00AE4D"/>
                </a:solidFill>
              </a:rPr>
              <a:t>Gesamtüberblick über das dokumentierte Softwareprodukt</a:t>
            </a:r>
            <a:endParaRPr>
              <a:solidFill>
                <a:srgbClr val="00AE4D"/>
              </a:solidFill>
            </a:endParaRPr>
          </a:p>
        </p:txBody>
      </p:sp>
      <p:pic>
        <p:nvPicPr>
          <p:cNvPr id="502" name="Google Shape;502;p58" title="Screenshot 2026-01-29 at 12.48.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2025" y="2895833"/>
            <a:ext cx="6279950" cy="1848675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58"/>
          <p:cNvSpPr txBox="1"/>
          <p:nvPr>
            <p:ph idx="2" type="body"/>
          </p:nvPr>
        </p:nvSpPr>
        <p:spPr>
          <a:xfrm>
            <a:off x="4762500" y="2006383"/>
            <a:ext cx="3924300" cy="857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de" sz="1600">
                <a:solidFill>
                  <a:schemeClr val="dk1"/>
                </a:solidFill>
              </a:rPr>
              <a:t>Systembackend (Spring Boot)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de" sz="1600">
                <a:solidFill>
                  <a:schemeClr val="dk1"/>
                </a:solidFill>
              </a:rPr>
              <a:t>Smartwatch (optional, lokal)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504" name="Google Shape;504;p58"/>
          <p:cNvSpPr txBox="1"/>
          <p:nvPr/>
        </p:nvSpPr>
        <p:spPr>
          <a:xfrm>
            <a:off x="685800" y="1481733"/>
            <a:ext cx="4270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de" sz="2000">
                <a:solidFill>
                  <a:srgbClr val="00AE4D"/>
                </a:solidFill>
              </a:rPr>
              <a:t>Bausteinsicht – Hauptkomponenten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9"/>
          <p:cNvSpPr txBox="1"/>
          <p:nvPr>
            <p:ph idx="1" type="body"/>
          </p:nvPr>
        </p:nvSpPr>
        <p:spPr>
          <a:xfrm>
            <a:off x="685800" y="1167600"/>
            <a:ext cx="4323600" cy="3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Interaktion der Komponenten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" sz="1600"/>
              <a:t>Patient:in GUI → PatientAPI → Backend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" sz="1600"/>
              <a:t>Ärzt:in Web-GUI → ArztAPI → Backend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" sz="1600"/>
              <a:t>Backend ↔ Datenbank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" sz="1600"/>
              <a:t>Smartwatch → nur lokal zur App</a:t>
            </a:r>
            <a:endParaRPr sz="1600"/>
          </a:p>
        </p:txBody>
      </p:sp>
      <p:sp>
        <p:nvSpPr>
          <p:cNvPr id="511" name="Google Shape;511;p59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GESAMTÜBERBLICK ÜBER DAS DOKUMENTIERTE SOFTWAREPRODUKT</a:t>
            </a:r>
            <a:br>
              <a:rPr lang="de">
                <a:solidFill>
                  <a:srgbClr val="00AE4D"/>
                </a:solidFill>
              </a:rPr>
            </a:br>
            <a:endParaRPr>
              <a:solidFill>
                <a:srgbClr val="00AE4D"/>
              </a:solidFill>
            </a:endParaRPr>
          </a:p>
        </p:txBody>
      </p:sp>
      <p:sp>
        <p:nvSpPr>
          <p:cNvPr id="512" name="Google Shape;512;p59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513" name="Google Shape;513;p59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02 · </a:t>
            </a:r>
            <a:r>
              <a:rPr lang="de" sz="1000">
                <a:solidFill>
                  <a:srgbClr val="00AE4D"/>
                </a:solidFill>
              </a:rPr>
              <a:t>Gesamtüberblick über das dokumentierte Softwareprodukt</a:t>
            </a:r>
            <a:endParaRPr>
              <a:solidFill>
                <a:srgbClr val="00AE4D"/>
              </a:solidFill>
            </a:endParaRPr>
          </a:p>
        </p:txBody>
      </p:sp>
      <p:pic>
        <p:nvPicPr>
          <p:cNvPr id="514" name="Google Shape;514;p59" title="archi.png"/>
          <p:cNvPicPr preferRelativeResize="0"/>
          <p:nvPr/>
        </p:nvPicPr>
        <p:blipFill rotWithShape="1">
          <a:blip r:embed="rId3">
            <a:alphaModFix/>
          </a:blip>
          <a:srcRect b="0" l="57052" r="15564" t="52132"/>
          <a:stretch/>
        </p:blipFill>
        <p:spPr>
          <a:xfrm>
            <a:off x="5807784" y="1672155"/>
            <a:ext cx="984614" cy="1147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59" title="archi.png"/>
          <p:cNvPicPr preferRelativeResize="0"/>
          <p:nvPr/>
        </p:nvPicPr>
        <p:blipFill rotWithShape="1">
          <a:blip r:embed="rId3">
            <a:alphaModFix/>
          </a:blip>
          <a:srcRect b="49472" l="18024" r="60412" t="5638"/>
          <a:stretch/>
        </p:blipFill>
        <p:spPr>
          <a:xfrm>
            <a:off x="5807784" y="2558313"/>
            <a:ext cx="775327" cy="1076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59" title="archi.png"/>
          <p:cNvPicPr preferRelativeResize="0"/>
          <p:nvPr/>
        </p:nvPicPr>
        <p:blipFill rotWithShape="1">
          <a:blip r:embed="rId3">
            <a:alphaModFix/>
          </a:blip>
          <a:srcRect b="7553" l="16517" r="56099" t="54353"/>
          <a:stretch/>
        </p:blipFill>
        <p:spPr>
          <a:xfrm>
            <a:off x="6583109" y="3684984"/>
            <a:ext cx="984614" cy="913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59" title="archi.png"/>
          <p:cNvPicPr preferRelativeResize="0"/>
          <p:nvPr/>
        </p:nvPicPr>
        <p:blipFill rotWithShape="1">
          <a:blip r:embed="rId3">
            <a:alphaModFix/>
          </a:blip>
          <a:srcRect b="49474" l="50585" r="16639" t="0"/>
          <a:stretch/>
        </p:blipFill>
        <p:spPr>
          <a:xfrm>
            <a:off x="7338572" y="2525802"/>
            <a:ext cx="1178450" cy="1211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59" title="arrows.png"/>
          <p:cNvPicPr preferRelativeResize="0"/>
          <p:nvPr/>
        </p:nvPicPr>
        <p:blipFill rotWithShape="1">
          <a:blip r:embed="rId4">
            <a:alphaModFix/>
          </a:blip>
          <a:srcRect b="65266" l="73319" r="8222" t="10262"/>
          <a:stretch/>
        </p:blipFill>
        <p:spPr>
          <a:xfrm rot="-7455184">
            <a:off x="5333227" y="2024046"/>
            <a:ext cx="923355" cy="816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59" title="arrows.png"/>
          <p:cNvPicPr preferRelativeResize="0"/>
          <p:nvPr/>
        </p:nvPicPr>
        <p:blipFill rotWithShape="1">
          <a:blip r:embed="rId4">
            <a:alphaModFix/>
          </a:blip>
          <a:srcRect b="47134" l="45295" r="37949" t="40566"/>
          <a:stretch/>
        </p:blipFill>
        <p:spPr>
          <a:xfrm>
            <a:off x="6641477" y="2975103"/>
            <a:ext cx="638742" cy="312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59" title="arrows.png"/>
          <p:cNvPicPr preferRelativeResize="0"/>
          <p:nvPr/>
        </p:nvPicPr>
        <p:blipFill rotWithShape="1">
          <a:blip r:embed="rId4">
            <a:alphaModFix/>
          </a:blip>
          <a:srcRect b="47134" l="45295" r="37949" t="40566"/>
          <a:stretch/>
        </p:blipFill>
        <p:spPr>
          <a:xfrm rot="2972102">
            <a:off x="6080522" y="3631322"/>
            <a:ext cx="638741" cy="31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59" title="arrows.png"/>
          <p:cNvPicPr preferRelativeResize="0"/>
          <p:nvPr/>
        </p:nvPicPr>
        <p:blipFill rotWithShape="1">
          <a:blip r:embed="rId4">
            <a:alphaModFix/>
          </a:blip>
          <a:srcRect b="47134" l="45295" r="37949" t="40566"/>
          <a:stretch/>
        </p:blipFill>
        <p:spPr>
          <a:xfrm rot="7038768">
            <a:off x="7424369" y="3631319"/>
            <a:ext cx="638739" cy="31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0"/>
          <p:cNvSpPr txBox="1"/>
          <p:nvPr>
            <p:ph idx="1" type="body"/>
          </p:nvPr>
        </p:nvSpPr>
        <p:spPr>
          <a:xfrm>
            <a:off x="685800" y="1167594"/>
            <a:ext cx="8001000" cy="3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Systembackend – interne Struktur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" sz="1600"/>
              <a:t>security – Authentifizierung &amp; Rollen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" sz="1600"/>
              <a:t>auth – Login &amp; Zugangscodes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" sz="1600"/>
              <a:t>arztManagement – Patient:innenverwaltung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" sz="1600"/>
              <a:t>protocol – Schlafprotokolle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" sz="1600"/>
              <a:t>report – PDF-Berichte</a:t>
            </a:r>
            <a:endParaRPr sz="1600"/>
          </a:p>
        </p:txBody>
      </p:sp>
      <p:sp>
        <p:nvSpPr>
          <p:cNvPr id="528" name="Google Shape;528;p60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GESAMTÜBERBLICK ÜBER DAS DOKUMENTIERTE SOFTWAREPRODUKT</a:t>
            </a:r>
            <a:br>
              <a:rPr lang="de">
                <a:solidFill>
                  <a:srgbClr val="00AE4D"/>
                </a:solidFill>
              </a:rPr>
            </a:br>
            <a:endParaRPr>
              <a:solidFill>
                <a:srgbClr val="00AE4D"/>
              </a:solidFill>
            </a:endParaRPr>
          </a:p>
        </p:txBody>
      </p:sp>
      <p:sp>
        <p:nvSpPr>
          <p:cNvPr id="529" name="Google Shape;529;p60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530" name="Google Shape;530;p60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02 · </a:t>
            </a:r>
            <a:r>
              <a:rPr lang="de" sz="1000">
                <a:solidFill>
                  <a:srgbClr val="00AE4D"/>
                </a:solidFill>
              </a:rPr>
              <a:t>Gesamtüberblick über das dokumentierte Softwareprodukt</a:t>
            </a:r>
            <a:endParaRPr>
              <a:solidFill>
                <a:srgbClr val="00AE4D"/>
              </a:solidFill>
            </a:endParaRPr>
          </a:p>
        </p:txBody>
      </p:sp>
      <p:pic>
        <p:nvPicPr>
          <p:cNvPr id="531" name="Google Shape;531;p60" title="Screenshot 2026-01-29 at 13.02.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5350" y="1694325"/>
            <a:ext cx="3451450" cy="283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1"/>
          <p:cNvSpPr txBox="1"/>
          <p:nvPr>
            <p:ph idx="1" type="body"/>
          </p:nvPr>
        </p:nvSpPr>
        <p:spPr>
          <a:xfrm>
            <a:off x="685800" y="1167594"/>
            <a:ext cx="8001000" cy="3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Laufzeitsicht – Beispiel „Schlafprotokoll absenden“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" sz="1600"/>
              <a:t>Patient füllt Protokoll aus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" sz="1600"/>
              <a:t>App sendet Daten an Backend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" sz="1600"/>
              <a:t>Backend validiert &amp; speichert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" sz="1600"/>
              <a:t>Datenbank bestätigt Speicherung</a:t>
            </a:r>
            <a:endParaRPr sz="16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538" name="Google Shape;538;p61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GESAMTÜBERBLICK ÜBER DAS DOKUMENTIERTE SOFTWAREPRODUKT</a:t>
            </a:r>
            <a:br>
              <a:rPr lang="de">
                <a:solidFill>
                  <a:srgbClr val="00AE4D"/>
                </a:solidFill>
              </a:rPr>
            </a:br>
            <a:endParaRPr>
              <a:solidFill>
                <a:srgbClr val="00AE4D"/>
              </a:solidFill>
            </a:endParaRPr>
          </a:p>
        </p:txBody>
      </p:sp>
      <p:sp>
        <p:nvSpPr>
          <p:cNvPr id="539" name="Google Shape;539;p61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540" name="Google Shape;540;p61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02 · </a:t>
            </a:r>
            <a:r>
              <a:rPr lang="de" sz="1000">
                <a:solidFill>
                  <a:srgbClr val="00AE4D"/>
                </a:solidFill>
              </a:rPr>
              <a:t>Gesamtüberblick über das dokumentierte Softwareprodukt</a:t>
            </a:r>
            <a:endParaRPr>
              <a:solidFill>
                <a:srgbClr val="00AE4D"/>
              </a:solidFill>
            </a:endParaRPr>
          </a:p>
        </p:txBody>
      </p:sp>
      <p:pic>
        <p:nvPicPr>
          <p:cNvPr id="541" name="Google Shape;541;p61" title="Screenshot 2026-01-29 at 13.15.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4450" y="1997238"/>
            <a:ext cx="4312349" cy="220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2"/>
          <p:cNvSpPr txBox="1"/>
          <p:nvPr>
            <p:ph idx="1" type="body"/>
          </p:nvPr>
        </p:nvSpPr>
        <p:spPr>
          <a:xfrm>
            <a:off x="685800" y="1167594"/>
            <a:ext cx="8001000" cy="3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Verteilungssicht – Deployment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" sz="1600"/>
              <a:t>Smartphone (Android App)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" sz="1600"/>
              <a:t>PC / Browser (Web-GUI)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" sz="1600"/>
              <a:t>Server (Backend)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" sz="1600"/>
              <a:t>Datenbank-Server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" sz="1600"/>
              <a:t>Kommunikation über HTTP &amp; SQL</a:t>
            </a:r>
            <a:endParaRPr sz="16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548" name="Google Shape;548;p62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GESAMTÜBERBLICK ÜBER DAS DOKUMENTIERTE SOFTWAREPRODUKT</a:t>
            </a:r>
            <a:br>
              <a:rPr lang="de">
                <a:solidFill>
                  <a:srgbClr val="00AE4D"/>
                </a:solidFill>
              </a:rPr>
            </a:br>
            <a:endParaRPr>
              <a:solidFill>
                <a:srgbClr val="00AE4D"/>
              </a:solidFill>
            </a:endParaRPr>
          </a:p>
        </p:txBody>
      </p:sp>
      <p:sp>
        <p:nvSpPr>
          <p:cNvPr id="549" name="Google Shape;549;p62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550" name="Google Shape;550;p62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02 · </a:t>
            </a:r>
            <a:r>
              <a:rPr lang="de" sz="1000">
                <a:solidFill>
                  <a:srgbClr val="00AE4D"/>
                </a:solidFill>
              </a:rPr>
              <a:t>Gesamtüberblick über das dokumentierte Softwareprodukt</a:t>
            </a:r>
            <a:endParaRPr>
              <a:solidFill>
                <a:srgbClr val="00AE4D"/>
              </a:solidFill>
            </a:endParaRPr>
          </a:p>
        </p:txBody>
      </p:sp>
      <p:pic>
        <p:nvPicPr>
          <p:cNvPr id="551" name="Google Shape;551;p62" title="Screenshot 2026-01-29 at 13.12.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0550" y="1896200"/>
            <a:ext cx="4066251" cy="2546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3"/>
          <p:cNvSpPr txBox="1"/>
          <p:nvPr>
            <p:ph idx="1" type="body"/>
          </p:nvPr>
        </p:nvSpPr>
        <p:spPr>
          <a:xfrm>
            <a:off x="685800" y="1167594"/>
            <a:ext cx="8001000" cy="3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de" sz="2000">
                <a:solidFill>
                  <a:srgbClr val="00AE4D"/>
                </a:solidFill>
              </a:rPr>
              <a:t>Ausgewähltes Implementierungsdetail: PDF-Bericht erstellen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AE4D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de" sz="2000"/>
              <a:t>Zentrale Funktion der App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de" sz="2000"/>
              <a:t>Erstellt einen Schlafbericht als PDF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de" sz="2000"/>
              <a:t>Nutzbar für Arzt und Patient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de" sz="2000"/>
              <a:t>Ergebnis: Downloadbares PDF</a:t>
            </a:r>
            <a:endParaRPr sz="2000"/>
          </a:p>
        </p:txBody>
      </p:sp>
      <p:sp>
        <p:nvSpPr>
          <p:cNvPr id="558" name="Google Shape;558;p63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IMPLEMENTIERUNG</a:t>
            </a:r>
            <a:br>
              <a:rPr lang="de">
                <a:solidFill>
                  <a:srgbClr val="00AE4D"/>
                </a:solidFill>
              </a:rPr>
            </a:br>
            <a:endParaRPr>
              <a:solidFill>
                <a:srgbClr val="00AE4D"/>
              </a:solidFill>
            </a:endParaRPr>
          </a:p>
        </p:txBody>
      </p:sp>
      <p:sp>
        <p:nvSpPr>
          <p:cNvPr id="559" name="Google Shape;559;p63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560" name="Google Shape;560;p63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de" sz="1000">
                <a:solidFill>
                  <a:srgbClr val="00AE4D"/>
                </a:solidFill>
              </a:rPr>
              <a:t>3</a:t>
            </a: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lang="de" sz="1000">
                <a:solidFill>
                  <a:srgbClr val="00AE4D"/>
                </a:solidFill>
              </a:rPr>
              <a:t>Implementierung</a:t>
            </a:r>
            <a:endParaRPr>
              <a:solidFill>
                <a:srgbClr val="00AE4D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4"/>
          <p:cNvSpPr txBox="1"/>
          <p:nvPr>
            <p:ph idx="1" type="body"/>
          </p:nvPr>
        </p:nvSpPr>
        <p:spPr>
          <a:xfrm>
            <a:off x="685800" y="1167594"/>
            <a:ext cx="8001000" cy="3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de" sz="2000">
                <a:solidFill>
                  <a:srgbClr val="00AE4D"/>
                </a:solidFill>
              </a:rPr>
              <a:t>Architektur der Berichtserstellung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567" name="Google Shape;567;p64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IMPLEMENTIERUNG</a:t>
            </a:r>
            <a:br>
              <a:rPr lang="de">
                <a:solidFill>
                  <a:srgbClr val="00AE4D"/>
                </a:solidFill>
              </a:rPr>
            </a:br>
            <a:endParaRPr>
              <a:solidFill>
                <a:srgbClr val="00AE4D"/>
              </a:solidFill>
            </a:endParaRPr>
          </a:p>
        </p:txBody>
      </p:sp>
      <p:sp>
        <p:nvSpPr>
          <p:cNvPr id="568" name="Google Shape;568;p64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569" name="Google Shape;569;p64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de" sz="1000">
                <a:solidFill>
                  <a:srgbClr val="00AE4D"/>
                </a:solidFill>
              </a:rPr>
              <a:t>3</a:t>
            </a: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lang="de" sz="1000">
                <a:solidFill>
                  <a:srgbClr val="00AE4D"/>
                </a:solidFill>
              </a:rPr>
              <a:t>Implementierung</a:t>
            </a:r>
            <a:endParaRPr>
              <a:solidFill>
                <a:srgbClr val="00AE4D"/>
              </a:solidFill>
            </a:endParaRPr>
          </a:p>
        </p:txBody>
      </p:sp>
      <p:grpSp>
        <p:nvGrpSpPr>
          <p:cNvPr id="570" name="Google Shape;570;p64"/>
          <p:cNvGrpSpPr/>
          <p:nvPr/>
        </p:nvGrpSpPr>
        <p:grpSpPr>
          <a:xfrm>
            <a:off x="571536" y="1957150"/>
            <a:ext cx="1755000" cy="1897977"/>
            <a:chOff x="571536" y="1957150"/>
            <a:chExt cx="1755000" cy="1897977"/>
          </a:xfrm>
        </p:grpSpPr>
        <p:sp>
          <p:nvSpPr>
            <p:cNvPr id="571" name="Google Shape;571;p64"/>
            <p:cNvSpPr/>
            <p:nvPr/>
          </p:nvSpPr>
          <p:spPr>
            <a:xfrm>
              <a:off x="1151886" y="1957150"/>
              <a:ext cx="594300" cy="594300"/>
            </a:xfrm>
            <a:prstGeom prst="ellipse">
              <a:avLst/>
            </a:prstGeom>
            <a:noFill/>
            <a:ln cap="flat" cmpd="sng" w="38100">
              <a:solidFill>
                <a:srgbClr val="A7291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64"/>
            <p:cNvSpPr txBox="1"/>
            <p:nvPr/>
          </p:nvSpPr>
          <p:spPr>
            <a:xfrm>
              <a:off x="1230636" y="2118324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b="1" sz="8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3" name="Google Shape;573;p64"/>
            <p:cNvSpPr txBox="1"/>
            <p:nvPr/>
          </p:nvSpPr>
          <p:spPr>
            <a:xfrm>
              <a:off x="594488" y="2660925"/>
              <a:ext cx="1709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de" sz="10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ReportController</a:t>
              </a:r>
              <a:endParaRPr b="1" sz="1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4" name="Google Shape;574;p64"/>
            <p:cNvSpPr txBox="1"/>
            <p:nvPr/>
          </p:nvSpPr>
          <p:spPr>
            <a:xfrm>
              <a:off x="571536" y="3117727"/>
              <a:ext cx="17550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de" sz="8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REST-API / Endpunkte</a:t>
              </a:r>
              <a:endParaRPr sz="8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75" name="Google Shape;575;p64"/>
          <p:cNvGrpSpPr/>
          <p:nvPr/>
        </p:nvGrpSpPr>
        <p:grpSpPr>
          <a:xfrm>
            <a:off x="2699423" y="1957150"/>
            <a:ext cx="1709103" cy="1897977"/>
            <a:chOff x="2699423" y="1957150"/>
            <a:chExt cx="1709103" cy="1897977"/>
          </a:xfrm>
        </p:grpSpPr>
        <p:sp>
          <p:nvSpPr>
            <p:cNvPr id="576" name="Google Shape;576;p64"/>
            <p:cNvSpPr/>
            <p:nvPr/>
          </p:nvSpPr>
          <p:spPr>
            <a:xfrm>
              <a:off x="3256823" y="1957150"/>
              <a:ext cx="594300" cy="594300"/>
            </a:xfrm>
            <a:prstGeom prst="ellipse">
              <a:avLst/>
            </a:prstGeom>
            <a:noFill/>
            <a:ln cap="flat" cmpd="sng" w="38100">
              <a:solidFill>
                <a:srgbClr val="A7291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64"/>
            <p:cNvSpPr txBox="1"/>
            <p:nvPr/>
          </p:nvSpPr>
          <p:spPr>
            <a:xfrm>
              <a:off x="2699425" y="2660925"/>
              <a:ext cx="1709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de" sz="10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ReportService</a:t>
              </a:r>
              <a:endParaRPr b="1" sz="1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8" name="Google Shape;578;p64"/>
            <p:cNvSpPr txBox="1"/>
            <p:nvPr/>
          </p:nvSpPr>
          <p:spPr>
            <a:xfrm>
              <a:off x="2699423" y="3117727"/>
              <a:ext cx="17091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de" sz="8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Geschäftslogik &amp; Datenaufbereitung</a:t>
              </a:r>
              <a:endParaRPr sz="8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9" name="Google Shape;579;p64"/>
            <p:cNvSpPr txBox="1"/>
            <p:nvPr/>
          </p:nvSpPr>
          <p:spPr>
            <a:xfrm>
              <a:off x="3335573" y="2118324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b="1" sz="8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80" name="Google Shape;580;p64"/>
          <p:cNvSpPr/>
          <p:nvPr/>
        </p:nvSpPr>
        <p:spPr>
          <a:xfrm>
            <a:off x="4337175" y="2248113"/>
            <a:ext cx="594300" cy="36900"/>
          </a:xfrm>
          <a:prstGeom prst="roundRect">
            <a:avLst>
              <a:gd fmla="val 50000" name="adj"/>
            </a:avLst>
          </a:prstGeom>
          <a:solidFill>
            <a:srgbClr val="8585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64"/>
          <p:cNvSpPr/>
          <p:nvPr/>
        </p:nvSpPr>
        <p:spPr>
          <a:xfrm>
            <a:off x="6419150" y="2248113"/>
            <a:ext cx="594300" cy="36900"/>
          </a:xfrm>
          <a:prstGeom prst="roundRect">
            <a:avLst>
              <a:gd fmla="val 50000" name="adj"/>
            </a:avLst>
          </a:prstGeom>
          <a:solidFill>
            <a:srgbClr val="8585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2" name="Google Shape;582;p64"/>
          <p:cNvGrpSpPr/>
          <p:nvPr/>
        </p:nvGrpSpPr>
        <p:grpSpPr>
          <a:xfrm>
            <a:off x="4781398" y="1957150"/>
            <a:ext cx="1709103" cy="1897977"/>
            <a:chOff x="2699423" y="1957150"/>
            <a:chExt cx="1709103" cy="1897977"/>
          </a:xfrm>
        </p:grpSpPr>
        <p:sp>
          <p:nvSpPr>
            <p:cNvPr id="583" name="Google Shape;583;p64"/>
            <p:cNvSpPr/>
            <p:nvPr/>
          </p:nvSpPr>
          <p:spPr>
            <a:xfrm>
              <a:off x="3256823" y="1957150"/>
              <a:ext cx="594300" cy="594300"/>
            </a:xfrm>
            <a:prstGeom prst="ellipse">
              <a:avLst/>
            </a:prstGeom>
            <a:noFill/>
            <a:ln cap="flat" cmpd="sng" w="38100">
              <a:solidFill>
                <a:srgbClr val="A7291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64"/>
            <p:cNvSpPr txBox="1"/>
            <p:nvPr/>
          </p:nvSpPr>
          <p:spPr>
            <a:xfrm>
              <a:off x="2699425" y="2660925"/>
              <a:ext cx="1709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de" sz="10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Pdf</a:t>
              </a:r>
              <a:r>
                <a:rPr b="1" lang="de" sz="10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ReportService</a:t>
              </a:r>
              <a:endParaRPr b="1" sz="1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5" name="Google Shape;585;p64"/>
            <p:cNvSpPr txBox="1"/>
            <p:nvPr/>
          </p:nvSpPr>
          <p:spPr>
            <a:xfrm>
              <a:off x="2699423" y="3117727"/>
              <a:ext cx="17091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de" sz="8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PDF-Erzeugung</a:t>
              </a:r>
              <a:endParaRPr sz="8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6" name="Google Shape;586;p64"/>
            <p:cNvSpPr txBox="1"/>
            <p:nvPr/>
          </p:nvSpPr>
          <p:spPr>
            <a:xfrm>
              <a:off x="3335573" y="2118324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b="1" sz="8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87" name="Google Shape;587;p64"/>
          <p:cNvGrpSpPr/>
          <p:nvPr/>
        </p:nvGrpSpPr>
        <p:grpSpPr>
          <a:xfrm>
            <a:off x="7013448" y="1957138"/>
            <a:ext cx="1709103" cy="1897977"/>
            <a:chOff x="2699423" y="1957150"/>
            <a:chExt cx="1709103" cy="1897977"/>
          </a:xfrm>
        </p:grpSpPr>
        <p:sp>
          <p:nvSpPr>
            <p:cNvPr id="588" name="Google Shape;588;p64"/>
            <p:cNvSpPr/>
            <p:nvPr/>
          </p:nvSpPr>
          <p:spPr>
            <a:xfrm>
              <a:off x="3256823" y="1957150"/>
              <a:ext cx="594300" cy="594300"/>
            </a:xfrm>
            <a:prstGeom prst="ellipse">
              <a:avLst/>
            </a:prstGeom>
            <a:noFill/>
            <a:ln cap="flat" cmpd="sng" w="38100">
              <a:solidFill>
                <a:srgbClr val="A7291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64"/>
            <p:cNvSpPr txBox="1"/>
            <p:nvPr/>
          </p:nvSpPr>
          <p:spPr>
            <a:xfrm>
              <a:off x="2699425" y="2660925"/>
              <a:ext cx="1709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de" sz="10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PDF (ByteArray)</a:t>
              </a:r>
              <a:endParaRPr b="1" sz="1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90" name="Google Shape;590;p64"/>
            <p:cNvSpPr txBox="1"/>
            <p:nvPr/>
          </p:nvSpPr>
          <p:spPr>
            <a:xfrm>
              <a:off x="2699423" y="3117727"/>
              <a:ext cx="17091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91" name="Google Shape;591;p64"/>
            <p:cNvSpPr txBox="1"/>
            <p:nvPr/>
          </p:nvSpPr>
          <p:spPr>
            <a:xfrm>
              <a:off x="3335573" y="2118324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b="1" sz="8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92" name="Google Shape;592;p64"/>
          <p:cNvSpPr/>
          <p:nvPr/>
        </p:nvSpPr>
        <p:spPr>
          <a:xfrm>
            <a:off x="2105125" y="2248113"/>
            <a:ext cx="594300" cy="36900"/>
          </a:xfrm>
          <a:prstGeom prst="roundRect">
            <a:avLst>
              <a:gd fmla="val 50000" name="adj"/>
            </a:avLst>
          </a:prstGeom>
          <a:solidFill>
            <a:srgbClr val="8585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65"/>
          <p:cNvSpPr txBox="1"/>
          <p:nvPr>
            <p:ph idx="1" type="body"/>
          </p:nvPr>
        </p:nvSpPr>
        <p:spPr>
          <a:xfrm>
            <a:off x="685800" y="1167600"/>
            <a:ext cx="8080800" cy="3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de" sz="2000">
                <a:solidFill>
                  <a:srgbClr val="00AE4D"/>
                </a:solidFill>
              </a:rPr>
              <a:t>ReportController – Einstiegspunkt der Funktion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500">
                <a:solidFill>
                  <a:schemeClr val="dk1"/>
                </a:solidFill>
              </a:rPr>
              <a:t>Aufgabe des Controllers</a:t>
            </a:r>
            <a:endParaRPr b="1" sz="15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de" sz="1200">
                <a:solidFill>
                  <a:schemeClr val="dk1"/>
                </a:solidFill>
              </a:rPr>
              <a:t>REST-Endpunkt für PDF-Endbericht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de" sz="1200">
                <a:solidFill>
                  <a:schemeClr val="dk1"/>
                </a:solidFill>
              </a:rPr>
              <a:t>Identifiziert eingeloggten Patienten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de" sz="1200">
                <a:solidFill>
                  <a:schemeClr val="dk1"/>
                </a:solidFill>
              </a:rPr>
              <a:t>Steuert Zeitraum-Logik (Datum oder letzte Tage)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de" sz="1200">
                <a:solidFill>
                  <a:schemeClr val="dk1"/>
                </a:solidFill>
              </a:rPr>
              <a:t>Übergibt Daten an Service-Schicht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de" sz="1200">
                <a:solidFill>
                  <a:schemeClr val="dk1"/>
                </a:solidFill>
              </a:rPr>
              <a:t>Liefert PDF als HTTP-Download zurück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500">
                <a:solidFill>
                  <a:schemeClr val="dk1"/>
                </a:solidFill>
              </a:rPr>
              <a:t>Technische Details</a:t>
            </a:r>
            <a:endParaRPr b="1" sz="15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de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GET /me/pdf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de" sz="1200">
                <a:solidFill>
                  <a:schemeClr val="dk1"/>
                </a:solidFill>
              </a:rPr>
              <a:t>Rückgabe: </a:t>
            </a:r>
            <a:r>
              <a:rPr lang="de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ResponseEntity&lt;byte[]&gt;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de" sz="1200">
                <a:solidFill>
                  <a:schemeClr val="dk1"/>
                </a:solidFill>
              </a:rPr>
              <a:t>HTTP-Header für PDF-Download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599" name="Google Shape;599;p65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IMPLEMENTIERUNG</a:t>
            </a:r>
            <a:br>
              <a:rPr lang="de">
                <a:solidFill>
                  <a:srgbClr val="00AE4D"/>
                </a:solidFill>
              </a:rPr>
            </a:br>
            <a:endParaRPr>
              <a:solidFill>
                <a:srgbClr val="00AE4D"/>
              </a:solidFill>
            </a:endParaRPr>
          </a:p>
        </p:txBody>
      </p:sp>
      <p:sp>
        <p:nvSpPr>
          <p:cNvPr id="600" name="Google Shape;600;p65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601" name="Google Shape;601;p65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de" sz="1000">
                <a:solidFill>
                  <a:srgbClr val="00AE4D"/>
                </a:solidFill>
              </a:rPr>
              <a:t>3</a:t>
            </a: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lang="de" sz="1000">
                <a:solidFill>
                  <a:srgbClr val="00AE4D"/>
                </a:solidFill>
              </a:rPr>
              <a:t>Implementierung</a:t>
            </a:r>
            <a:endParaRPr>
              <a:solidFill>
                <a:srgbClr val="00AE4D"/>
              </a:solidFill>
            </a:endParaRPr>
          </a:p>
        </p:txBody>
      </p:sp>
      <p:pic>
        <p:nvPicPr>
          <p:cNvPr id="602" name="Google Shape;602;p65" title="Screenshot 2026-01-29 at 12.20.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7725" y="1598563"/>
            <a:ext cx="3959074" cy="2999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66"/>
          <p:cNvSpPr txBox="1"/>
          <p:nvPr>
            <p:ph idx="1" type="body"/>
          </p:nvPr>
        </p:nvSpPr>
        <p:spPr>
          <a:xfrm>
            <a:off x="685800" y="1167600"/>
            <a:ext cx="8080800" cy="3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de" sz="2000">
                <a:solidFill>
                  <a:srgbClr val="00AE4D"/>
                </a:solidFill>
              </a:rPr>
              <a:t>PdfReportService – Erzeugung des PDF-Endberichts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500">
                <a:solidFill>
                  <a:schemeClr val="dk1"/>
                </a:solidFill>
              </a:rPr>
              <a:t>Aufgaben des PdfReportService</a:t>
            </a:r>
            <a:endParaRPr b="1" sz="15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de" sz="1200">
                <a:solidFill>
                  <a:schemeClr val="dk1"/>
                </a:solidFill>
              </a:rPr>
              <a:t>Erstellt den PDF-Endbericht aus Report-Daten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de" sz="1200">
                <a:solidFill>
                  <a:schemeClr val="dk1"/>
                </a:solidFill>
              </a:rPr>
              <a:t>Keine Geschäftslogik enthalten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de" sz="1200">
                <a:solidFill>
                  <a:schemeClr val="dk1"/>
                </a:solidFill>
              </a:rPr>
              <a:t>Modularer Aufbau (Header, Tabellen, Diagramme)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de" sz="1200">
                <a:solidFill>
                  <a:schemeClr val="dk1"/>
                </a:solidFill>
              </a:rPr>
              <a:t>Rückgabe als </a:t>
            </a:r>
            <a:r>
              <a:rPr lang="de" sz="1200">
                <a:solidFill>
                  <a:srgbClr val="188038"/>
                </a:solidFill>
              </a:rPr>
              <a:t>byte[]</a:t>
            </a:r>
            <a:endParaRPr sz="1200">
              <a:solidFill>
                <a:srgbClr val="188038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609" name="Google Shape;609;p66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IMPLEMENTIERUNG</a:t>
            </a:r>
            <a:br>
              <a:rPr lang="de">
                <a:solidFill>
                  <a:srgbClr val="00AE4D"/>
                </a:solidFill>
              </a:rPr>
            </a:br>
            <a:endParaRPr>
              <a:solidFill>
                <a:srgbClr val="00AE4D"/>
              </a:solidFill>
            </a:endParaRPr>
          </a:p>
        </p:txBody>
      </p:sp>
      <p:sp>
        <p:nvSpPr>
          <p:cNvPr id="610" name="Google Shape;610;p66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611" name="Google Shape;611;p66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de" sz="1000">
                <a:solidFill>
                  <a:srgbClr val="00AE4D"/>
                </a:solidFill>
              </a:rPr>
              <a:t>3</a:t>
            </a: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lang="de" sz="1000">
                <a:solidFill>
                  <a:srgbClr val="00AE4D"/>
                </a:solidFill>
              </a:rPr>
              <a:t>Implementierung</a:t>
            </a:r>
            <a:endParaRPr>
              <a:solidFill>
                <a:srgbClr val="00AE4D"/>
              </a:solidFill>
            </a:endParaRPr>
          </a:p>
        </p:txBody>
      </p:sp>
      <p:pic>
        <p:nvPicPr>
          <p:cNvPr id="612" name="Google Shape;612;p66" title="Screenshot 2026-01-29 at 12.26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0600" y="1808000"/>
            <a:ext cx="3976199" cy="2499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7"/>
          <p:cNvSpPr txBox="1"/>
          <p:nvPr>
            <p:ph idx="1" type="body"/>
          </p:nvPr>
        </p:nvSpPr>
        <p:spPr>
          <a:xfrm>
            <a:off x="593400" y="1167600"/>
            <a:ext cx="4180200" cy="3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Tests und Ergebnisse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de" sz="1800">
                <a:solidFill>
                  <a:schemeClr val="dk1"/>
                </a:solidFill>
              </a:rPr>
              <a:t>Getestete Komponenten</a:t>
            </a:r>
            <a:endParaRPr b="1" sz="18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b="1" lang="de" sz="1700">
                <a:solidFill>
                  <a:schemeClr val="dk1"/>
                </a:solidFill>
              </a:rPr>
              <a:t>API-Integration </a:t>
            </a:r>
            <a:r>
              <a:rPr lang="de" sz="1700">
                <a:solidFill>
                  <a:schemeClr val="dk1"/>
                </a:solidFill>
              </a:rPr>
              <a:t>(Postman-Tests)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b="1" lang="de" sz="1700">
                <a:solidFill>
                  <a:schemeClr val="dk1"/>
                </a:solidFill>
              </a:rPr>
              <a:t>Android App </a:t>
            </a:r>
            <a:r>
              <a:rPr lang="de" sz="1700">
                <a:solidFill>
                  <a:schemeClr val="dk1"/>
                </a:solidFill>
              </a:rPr>
              <a:t> (89 Unit-Tests + 13 Integration-Tests)</a:t>
            </a:r>
            <a:r>
              <a:rPr b="1" lang="de" sz="1700">
                <a:solidFill>
                  <a:schemeClr val="dk1"/>
                </a:solidFill>
              </a:rPr>
              <a:t>   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b="1" lang="de" sz="1700">
                <a:solidFill>
                  <a:schemeClr val="dk1"/>
                </a:solidFill>
              </a:rPr>
              <a:t>Spring Backend </a:t>
            </a:r>
            <a:r>
              <a:rPr lang="de" sz="1700">
                <a:solidFill>
                  <a:schemeClr val="dk1"/>
                </a:solidFill>
              </a:rPr>
              <a:t>(125 Unit-Tests, 4 Module)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800">
                <a:solidFill>
                  <a:schemeClr val="dk1"/>
                </a:solidFill>
              </a:rPr>
              <a:t>   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1"/>
                </a:solidFill>
              </a:rPr>
              <a:t>   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619" name="Google Shape;619;p67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IMPLEMENTIERUNG</a:t>
            </a:r>
            <a:br>
              <a:rPr lang="de">
                <a:solidFill>
                  <a:srgbClr val="00AE4D"/>
                </a:solidFill>
              </a:rPr>
            </a:br>
            <a:endParaRPr>
              <a:solidFill>
                <a:srgbClr val="00AE4D"/>
              </a:solidFill>
            </a:endParaRPr>
          </a:p>
        </p:txBody>
      </p:sp>
      <p:sp>
        <p:nvSpPr>
          <p:cNvPr id="620" name="Google Shape;620;p67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621" name="Google Shape;621;p67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de" sz="1000">
                <a:solidFill>
                  <a:srgbClr val="00AE4D"/>
                </a:solidFill>
              </a:rPr>
              <a:t>3</a:t>
            </a: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lang="de" sz="1000">
                <a:solidFill>
                  <a:srgbClr val="00AE4D"/>
                </a:solidFill>
              </a:rPr>
              <a:t>Implementierung</a:t>
            </a:r>
            <a:endParaRPr>
              <a:solidFill>
                <a:srgbClr val="00AE4D"/>
              </a:solidFill>
            </a:endParaRPr>
          </a:p>
        </p:txBody>
      </p:sp>
      <p:sp>
        <p:nvSpPr>
          <p:cNvPr id="622" name="Google Shape;622;p67"/>
          <p:cNvSpPr txBox="1"/>
          <p:nvPr/>
        </p:nvSpPr>
        <p:spPr>
          <a:xfrm>
            <a:off x="4817250" y="1670700"/>
            <a:ext cx="4070100" cy="3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de" sz="1800">
                <a:solidFill>
                  <a:schemeClr val="dk1"/>
                </a:solidFill>
              </a:rPr>
              <a:t>Test-Strategie</a:t>
            </a:r>
            <a:endParaRPr b="1" sz="18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de" sz="1700">
                <a:solidFill>
                  <a:schemeClr val="dk1"/>
                </a:solidFill>
              </a:rPr>
              <a:t>Systemtests:</a:t>
            </a:r>
            <a:r>
              <a:rPr lang="de" sz="1700">
                <a:solidFill>
                  <a:schemeClr val="dk1"/>
                </a:solidFill>
              </a:rPr>
              <a:t> End-to-End mit Postman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de" sz="1700">
                <a:solidFill>
                  <a:schemeClr val="dk1"/>
                </a:solidFill>
              </a:rPr>
              <a:t>Unit-Tests:</a:t>
            </a:r>
            <a:r>
              <a:rPr lang="de" sz="1700">
                <a:solidFill>
                  <a:schemeClr val="dk1"/>
                </a:solidFill>
              </a:rPr>
              <a:t> Isoliert mit gemockten Abhängigkeiten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de" sz="1700">
                <a:solidFill>
                  <a:schemeClr val="dk1"/>
                </a:solidFill>
              </a:rPr>
              <a:t>Integration-Tests: </a:t>
            </a:r>
            <a:r>
              <a:rPr lang="de" sz="1700">
                <a:solidFill>
                  <a:schemeClr val="dk1"/>
                </a:solidFill>
              </a:rPr>
              <a:t>API-Kommunikation (MockWebServer)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1414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68"/>
          <p:cNvSpPr txBox="1"/>
          <p:nvPr>
            <p:ph idx="1" type="body"/>
          </p:nvPr>
        </p:nvSpPr>
        <p:spPr>
          <a:xfrm>
            <a:off x="593400" y="1167600"/>
            <a:ext cx="4740600" cy="42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Tests und Ergebnisse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de" sz="1800">
                <a:solidFill>
                  <a:schemeClr val="dk1"/>
                </a:solidFill>
              </a:rPr>
              <a:t>Postman API-Tests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6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Komplette Use-Case-Abläufe getestet</a:t>
            </a:r>
            <a:endParaRPr sz="16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   Test-Szenarien: </a:t>
            </a:r>
            <a:endParaRPr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800">
                <a:solidFill>
                  <a:schemeClr val="dk1"/>
                </a:solidFill>
              </a:rPr>
              <a:t>   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1"/>
                </a:solidFill>
              </a:rPr>
              <a:t>  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Besonderheit: Query-Parameter für Testing  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629" name="Google Shape;629;p68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IMPLEMENTIERUNG</a:t>
            </a:r>
            <a:br>
              <a:rPr lang="de">
                <a:solidFill>
                  <a:srgbClr val="00AE4D"/>
                </a:solidFill>
              </a:rPr>
            </a:br>
            <a:endParaRPr>
              <a:solidFill>
                <a:srgbClr val="00AE4D"/>
              </a:solidFill>
            </a:endParaRPr>
          </a:p>
        </p:txBody>
      </p:sp>
      <p:sp>
        <p:nvSpPr>
          <p:cNvPr id="630" name="Google Shape;630;p68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631" name="Google Shape;631;p68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de" sz="1000">
                <a:solidFill>
                  <a:srgbClr val="00AE4D"/>
                </a:solidFill>
              </a:rPr>
              <a:t>3</a:t>
            </a: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lang="de" sz="1000">
                <a:solidFill>
                  <a:srgbClr val="00AE4D"/>
                </a:solidFill>
              </a:rPr>
              <a:t>Implementierung</a:t>
            </a:r>
            <a:endParaRPr>
              <a:solidFill>
                <a:srgbClr val="00AE4D"/>
              </a:solidFill>
            </a:endParaRPr>
          </a:p>
        </p:txBody>
      </p:sp>
      <p:sp>
        <p:nvSpPr>
          <p:cNvPr id="632" name="Google Shape;632;p68"/>
          <p:cNvSpPr txBox="1"/>
          <p:nvPr/>
        </p:nvSpPr>
        <p:spPr>
          <a:xfrm>
            <a:off x="2143225" y="2571750"/>
            <a:ext cx="3015000" cy="27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AutoNum type="arabicPeriod"/>
            </a:pPr>
            <a:r>
              <a:rPr lang="de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Arzt-Login</a:t>
            </a:r>
            <a:endParaRPr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AutoNum type="arabicPeriod"/>
            </a:pPr>
            <a:r>
              <a:rPr lang="de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Zugangscode generieren </a:t>
            </a:r>
            <a:endParaRPr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AutoNum type="arabicPeriod"/>
            </a:pPr>
            <a:r>
              <a:rPr lang="de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Patient-Erstlogin mit Code </a:t>
            </a:r>
            <a:endParaRPr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AutoNum type="arabicPeriod"/>
            </a:pPr>
            <a:r>
              <a:rPr lang="de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Patient-Login (DEV-Modus) </a:t>
            </a:r>
            <a:endParaRPr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AutoNum type="arabicPeriod"/>
            </a:pPr>
            <a:r>
              <a:rPr lang="de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Protokoll absenden </a:t>
            </a:r>
            <a:endParaRPr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AutoNum type="arabicPeriod"/>
            </a:pPr>
            <a:r>
              <a:rPr lang="de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PDF-Bericht erstellen </a:t>
            </a:r>
            <a:endParaRPr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14141"/>
              </a:solidFill>
            </a:endParaRPr>
          </a:p>
        </p:txBody>
      </p:sp>
      <p:pic>
        <p:nvPicPr>
          <p:cNvPr id="633" name="Google Shape;63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000" y="2165277"/>
            <a:ext cx="3334450" cy="197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29500" y="1678250"/>
            <a:ext cx="844325" cy="439800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68"/>
          <p:cNvSpPr txBox="1"/>
          <p:nvPr/>
        </p:nvSpPr>
        <p:spPr>
          <a:xfrm>
            <a:off x="5334000" y="1874950"/>
            <a:ext cx="2789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900"/>
              <a:t>    </a:t>
            </a:r>
            <a:r>
              <a:rPr lang="de" sz="900"/>
              <a:t>POST </a:t>
            </a:r>
            <a:r>
              <a:rPr lang="de" sz="900"/>
              <a:t>/api/auth/arzt/login → JWT erhalten </a:t>
            </a:r>
            <a:r>
              <a:rPr lang="de" sz="900">
                <a:solidFill>
                  <a:schemeClr val="dk1"/>
                </a:solidFill>
              </a:rPr>
              <a:t> </a:t>
            </a:r>
            <a:endParaRPr sz="900"/>
          </a:p>
        </p:txBody>
      </p:sp>
      <p:sp>
        <p:nvSpPr>
          <p:cNvPr id="636" name="Google Shape;636;p68"/>
          <p:cNvSpPr/>
          <p:nvPr/>
        </p:nvSpPr>
        <p:spPr>
          <a:xfrm>
            <a:off x="4649000" y="2689300"/>
            <a:ext cx="305400" cy="20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68"/>
          <p:cNvSpPr txBox="1"/>
          <p:nvPr/>
        </p:nvSpPr>
        <p:spPr>
          <a:xfrm>
            <a:off x="4782775" y="2667000"/>
            <a:ext cx="291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14141"/>
              </a:solidFill>
            </a:endParaRPr>
          </a:p>
        </p:txBody>
      </p:sp>
      <p:sp>
        <p:nvSpPr>
          <p:cNvPr id="638" name="Google Shape;638;p68"/>
          <p:cNvSpPr txBox="1"/>
          <p:nvPr/>
        </p:nvSpPr>
        <p:spPr>
          <a:xfrm>
            <a:off x="4572000" y="2419750"/>
            <a:ext cx="100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rgbClr val="414141"/>
                </a:solidFill>
              </a:rPr>
              <a:t>z.B.</a:t>
            </a:r>
            <a:endParaRPr sz="1100">
              <a:solidFill>
                <a:srgbClr val="41414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69"/>
          <p:cNvSpPr txBox="1"/>
          <p:nvPr>
            <p:ph idx="1" type="body"/>
          </p:nvPr>
        </p:nvSpPr>
        <p:spPr>
          <a:xfrm>
            <a:off x="593400" y="1167600"/>
            <a:ext cx="7957200" cy="3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Tests und Ergebnisse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de" sz="1800">
                <a:solidFill>
                  <a:schemeClr val="dk1"/>
                </a:solidFill>
              </a:rPr>
              <a:t>Android Unit-Tests: </a:t>
            </a:r>
            <a:r>
              <a:rPr lang="de" sz="1500">
                <a:solidFill>
                  <a:schemeClr val="dk1"/>
                </a:solidFill>
              </a:rPr>
              <a:t>(89 Tests in 3 Kategorien)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800">
                <a:solidFill>
                  <a:schemeClr val="dk1"/>
                </a:solidFill>
              </a:rPr>
              <a:t>   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1"/>
                </a:solidFill>
              </a:rPr>
              <a:t>  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400">
                <a:solidFill>
                  <a:schemeClr val="dk1"/>
                </a:solidFill>
              </a:rPr>
              <a:t>Ergebnis: </a:t>
            </a:r>
            <a:r>
              <a:rPr lang="de" sz="1400">
                <a:solidFill>
                  <a:schemeClr val="dk1"/>
                </a:solidFill>
              </a:rPr>
              <a:t>100% bestanden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645" name="Google Shape;645;p69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IMPLEMENTIERUNG</a:t>
            </a:r>
            <a:br>
              <a:rPr lang="de">
                <a:solidFill>
                  <a:srgbClr val="00AE4D"/>
                </a:solidFill>
              </a:rPr>
            </a:br>
            <a:endParaRPr>
              <a:solidFill>
                <a:srgbClr val="00AE4D"/>
              </a:solidFill>
            </a:endParaRPr>
          </a:p>
        </p:txBody>
      </p:sp>
      <p:sp>
        <p:nvSpPr>
          <p:cNvPr id="646" name="Google Shape;646;p69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647" name="Google Shape;647;p69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de" sz="1000">
                <a:solidFill>
                  <a:srgbClr val="00AE4D"/>
                </a:solidFill>
              </a:rPr>
              <a:t>3</a:t>
            </a: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lang="de" sz="1000">
                <a:solidFill>
                  <a:srgbClr val="00AE4D"/>
                </a:solidFill>
              </a:rPr>
              <a:t>Implementierung</a:t>
            </a:r>
            <a:endParaRPr>
              <a:solidFill>
                <a:srgbClr val="00AE4D"/>
              </a:solidFill>
            </a:endParaRPr>
          </a:p>
        </p:txBody>
      </p:sp>
      <p:pic>
        <p:nvPicPr>
          <p:cNvPr id="648" name="Google Shape;64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2950" y="2170350"/>
            <a:ext cx="6813671" cy="1701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70"/>
          <p:cNvSpPr txBox="1"/>
          <p:nvPr>
            <p:ph idx="1" type="body"/>
          </p:nvPr>
        </p:nvSpPr>
        <p:spPr>
          <a:xfrm>
            <a:off x="593400" y="1167600"/>
            <a:ext cx="7957200" cy="35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Tests und Ergebnisse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de" sz="1800">
                <a:solidFill>
                  <a:schemeClr val="dk1"/>
                </a:solidFill>
              </a:rPr>
              <a:t>Android Integration-Tests: (</a:t>
            </a:r>
            <a:r>
              <a:rPr lang="de" sz="1500">
                <a:solidFill>
                  <a:schemeClr val="dk1"/>
                </a:solidFill>
              </a:rPr>
              <a:t>13 Tests für API-Kommunikation)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800">
                <a:solidFill>
                  <a:schemeClr val="dk1"/>
                </a:solidFill>
              </a:rPr>
              <a:t>   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1"/>
                </a:solidFill>
              </a:rPr>
              <a:t>  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400">
                <a:solidFill>
                  <a:schemeClr val="dk1"/>
                </a:solidFill>
              </a:rPr>
              <a:t>Ergebnis: </a:t>
            </a:r>
            <a:r>
              <a:rPr lang="de" sz="1400">
                <a:solidFill>
                  <a:schemeClr val="dk1"/>
                </a:solidFill>
              </a:rPr>
              <a:t>100% bestanden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655" name="Google Shape;655;p70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IMPLEMENTIERUNG</a:t>
            </a:r>
            <a:br>
              <a:rPr lang="de">
                <a:solidFill>
                  <a:srgbClr val="00AE4D"/>
                </a:solidFill>
              </a:rPr>
            </a:br>
            <a:endParaRPr>
              <a:solidFill>
                <a:srgbClr val="00AE4D"/>
              </a:solidFill>
            </a:endParaRPr>
          </a:p>
        </p:txBody>
      </p:sp>
      <p:sp>
        <p:nvSpPr>
          <p:cNvPr id="656" name="Google Shape;656;p70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657" name="Google Shape;657;p70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de" sz="1000">
                <a:solidFill>
                  <a:srgbClr val="00AE4D"/>
                </a:solidFill>
              </a:rPr>
              <a:t>3</a:t>
            </a: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lang="de" sz="1000">
                <a:solidFill>
                  <a:srgbClr val="00AE4D"/>
                </a:solidFill>
              </a:rPr>
              <a:t>Implementierung</a:t>
            </a:r>
            <a:endParaRPr>
              <a:solidFill>
                <a:srgbClr val="00AE4D"/>
              </a:solidFill>
            </a:endParaRPr>
          </a:p>
        </p:txBody>
      </p:sp>
      <p:pic>
        <p:nvPicPr>
          <p:cNvPr id="658" name="Google Shape;658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4450" y="2211400"/>
            <a:ext cx="6623725" cy="159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71"/>
          <p:cNvSpPr txBox="1"/>
          <p:nvPr>
            <p:ph idx="1" type="body"/>
          </p:nvPr>
        </p:nvSpPr>
        <p:spPr>
          <a:xfrm>
            <a:off x="604348" y="1167600"/>
            <a:ext cx="7957200" cy="35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Tests und Ergebnisse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de" sz="1800">
                <a:solidFill>
                  <a:schemeClr val="dk1"/>
                </a:solidFill>
              </a:rPr>
              <a:t>Backend - Getestete Module: </a:t>
            </a:r>
            <a:r>
              <a:rPr lang="de" sz="1800">
                <a:solidFill>
                  <a:schemeClr val="dk1"/>
                </a:solidFill>
              </a:rPr>
              <a:t>4 Kernmodule (125 Tests)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800">
                <a:solidFill>
                  <a:schemeClr val="dk1"/>
                </a:solidFill>
              </a:rPr>
              <a:t>   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500">
                <a:solidFill>
                  <a:schemeClr val="dk1"/>
                </a:solidFill>
              </a:rPr>
              <a:t>Coverage: </a:t>
            </a:r>
            <a:r>
              <a:rPr lang="de" sz="1500">
                <a:solidFill>
                  <a:schemeClr val="dk1"/>
                </a:solidFill>
              </a:rPr>
              <a:t>84% Zeilen, 91% Methoden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665" name="Google Shape;665;p71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IMPLEMENTIERUNG</a:t>
            </a:r>
            <a:br>
              <a:rPr lang="de">
                <a:solidFill>
                  <a:srgbClr val="00AE4D"/>
                </a:solidFill>
              </a:rPr>
            </a:br>
            <a:endParaRPr>
              <a:solidFill>
                <a:srgbClr val="00AE4D"/>
              </a:solidFill>
            </a:endParaRPr>
          </a:p>
        </p:txBody>
      </p:sp>
      <p:sp>
        <p:nvSpPr>
          <p:cNvPr id="666" name="Google Shape;666;p71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667" name="Google Shape;667;p71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de" sz="1000">
                <a:solidFill>
                  <a:srgbClr val="00AE4D"/>
                </a:solidFill>
              </a:rPr>
              <a:t>3</a:t>
            </a: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lang="de" sz="1000">
                <a:solidFill>
                  <a:srgbClr val="00AE4D"/>
                </a:solidFill>
              </a:rPr>
              <a:t>Implementierung</a:t>
            </a:r>
            <a:endParaRPr>
              <a:solidFill>
                <a:srgbClr val="00AE4D"/>
              </a:solidFill>
            </a:endParaRPr>
          </a:p>
        </p:txBody>
      </p:sp>
      <p:pic>
        <p:nvPicPr>
          <p:cNvPr id="668" name="Google Shape;668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9875" y="2178050"/>
            <a:ext cx="6429275" cy="204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72"/>
          <p:cNvSpPr txBox="1"/>
          <p:nvPr>
            <p:ph idx="1" type="body"/>
          </p:nvPr>
        </p:nvSpPr>
        <p:spPr>
          <a:xfrm>
            <a:off x="593400" y="1167600"/>
            <a:ext cx="4497600" cy="35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Tests und Ergebnisse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de" sz="1800">
                <a:solidFill>
                  <a:schemeClr val="dk1"/>
                </a:solidFill>
              </a:rPr>
              <a:t>Backend-Testergebnisse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800">
                <a:solidFill>
                  <a:schemeClr val="dk1"/>
                </a:solidFill>
              </a:rPr>
              <a:t>   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675" name="Google Shape;675;p72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IMPLEMENTIERUNG</a:t>
            </a:r>
            <a:br>
              <a:rPr lang="de">
                <a:solidFill>
                  <a:srgbClr val="00AE4D"/>
                </a:solidFill>
              </a:rPr>
            </a:br>
            <a:endParaRPr>
              <a:solidFill>
                <a:srgbClr val="00AE4D"/>
              </a:solidFill>
            </a:endParaRPr>
          </a:p>
        </p:txBody>
      </p:sp>
      <p:sp>
        <p:nvSpPr>
          <p:cNvPr id="676" name="Google Shape;676;p72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677" name="Google Shape;677;p72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de" sz="1000">
                <a:solidFill>
                  <a:srgbClr val="00AE4D"/>
                </a:solidFill>
              </a:rPr>
              <a:t>3</a:t>
            </a: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lang="de" sz="1000">
                <a:solidFill>
                  <a:srgbClr val="00AE4D"/>
                </a:solidFill>
              </a:rPr>
              <a:t>Implementierung</a:t>
            </a:r>
            <a:endParaRPr>
              <a:solidFill>
                <a:srgbClr val="00AE4D"/>
              </a:solidFill>
            </a:endParaRPr>
          </a:p>
        </p:txBody>
      </p:sp>
      <p:pic>
        <p:nvPicPr>
          <p:cNvPr id="678" name="Google Shape;678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525" y="2178000"/>
            <a:ext cx="4223850" cy="1822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72"/>
          <p:cNvSpPr txBox="1"/>
          <p:nvPr/>
        </p:nvSpPr>
        <p:spPr>
          <a:xfrm>
            <a:off x="5320825" y="2676700"/>
            <a:ext cx="3317400" cy="17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" sz="1600">
                <a:solidFill>
                  <a:schemeClr val="dk1"/>
                </a:solidFill>
              </a:rPr>
              <a:t>3 fehlgeschlagene Tests </a:t>
            </a:r>
            <a:r>
              <a:rPr lang="de" sz="1600">
                <a:solidFill>
                  <a:schemeClr val="dk1"/>
                </a:solidFill>
              </a:rPr>
              <a:t>(Protocol):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 Sans"/>
              <a:buChar char="·"/>
            </a:pPr>
            <a:r>
              <a:rPr lang="de" sz="1600">
                <a:solidFill>
                  <a:schemeClr val="dk1"/>
                </a:solidFill>
              </a:rPr>
              <a:t>Null-Request-Objekte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 Sans"/>
              <a:buChar char="·"/>
            </a:pPr>
            <a:r>
              <a:rPr lang="de" sz="1600">
                <a:solidFill>
                  <a:schemeClr val="dk1"/>
                </a:solidFill>
              </a:rPr>
              <a:t>Treten produktiv nicht auf (Spring-Validierung)</a:t>
            </a:r>
            <a:endParaRPr sz="2200">
              <a:solidFill>
                <a:srgbClr val="414141"/>
              </a:solidFill>
            </a:endParaRPr>
          </a:p>
        </p:txBody>
      </p:sp>
      <p:sp>
        <p:nvSpPr>
          <p:cNvPr id="680" name="Google Shape;680;p72"/>
          <p:cNvSpPr/>
          <p:nvPr/>
        </p:nvSpPr>
        <p:spPr>
          <a:xfrm>
            <a:off x="4762500" y="2755500"/>
            <a:ext cx="383100" cy="34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73"/>
          <p:cNvSpPr txBox="1"/>
          <p:nvPr>
            <p:ph idx="1" type="body"/>
          </p:nvPr>
        </p:nvSpPr>
        <p:spPr>
          <a:xfrm>
            <a:off x="593400" y="1167600"/>
            <a:ext cx="4497600" cy="35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 sz="2000">
                <a:solidFill>
                  <a:srgbClr val="00AE4D"/>
                </a:solidFill>
              </a:rPr>
              <a:t>Tests und Ergebnisse</a:t>
            </a:r>
            <a:endParaRPr sz="2000">
              <a:solidFill>
                <a:srgbClr val="00AE4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de" sz="1800">
                <a:solidFill>
                  <a:schemeClr val="dk1"/>
                </a:solidFill>
              </a:rPr>
              <a:t>Testabdeckung Details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" sz="1500">
                <a:solidFill>
                  <a:schemeClr val="dk1"/>
                </a:solidFill>
              </a:rPr>
              <a:t>  Was wurde getestet: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·"/>
            </a:pPr>
            <a:r>
              <a:rPr b="1" lang="de" sz="1500">
                <a:solidFill>
                  <a:schemeClr val="dk1"/>
                </a:solidFill>
              </a:rPr>
              <a:t>Erfolgsfälle</a:t>
            </a:r>
            <a:r>
              <a:rPr lang="de" sz="1500">
                <a:solidFill>
                  <a:schemeClr val="dk1"/>
                </a:solidFill>
              </a:rPr>
              <a:t> (Happy Path)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·"/>
            </a:pPr>
            <a:r>
              <a:rPr b="1" lang="de" sz="1500">
                <a:solidFill>
                  <a:schemeClr val="dk1"/>
                </a:solidFill>
              </a:rPr>
              <a:t>Grenzfälle</a:t>
            </a:r>
            <a:r>
              <a:rPr lang="de" sz="1500">
                <a:solidFill>
                  <a:schemeClr val="dk1"/>
                </a:solidFill>
              </a:rPr>
              <a:t> (leere Listen, Null-Werte)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·"/>
            </a:pPr>
            <a:r>
              <a:rPr b="1" lang="de" sz="1500">
                <a:solidFill>
                  <a:schemeClr val="dk1"/>
                </a:solidFill>
              </a:rPr>
              <a:t>Fehlerfälle</a:t>
            </a:r>
            <a:r>
              <a:rPr lang="de" sz="1500">
                <a:solidFill>
                  <a:schemeClr val="dk1"/>
                </a:solidFill>
              </a:rPr>
              <a:t> (ungültige Daten, 400/401 Errors)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·"/>
            </a:pPr>
            <a:r>
              <a:rPr b="1" lang="de" sz="1500">
                <a:solidFill>
                  <a:schemeClr val="dk1"/>
                </a:solidFill>
              </a:rPr>
              <a:t>Sicherheit</a:t>
            </a:r>
            <a:r>
              <a:rPr lang="de" sz="1500">
                <a:solidFill>
                  <a:schemeClr val="dk1"/>
                </a:solidFill>
              </a:rPr>
              <a:t> (Passwort-Verschlüsselung, JWT, Rollen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de" sz="1500">
                <a:solidFill>
                  <a:schemeClr val="dk1"/>
                </a:solidFill>
              </a:rPr>
            </a:br>
            <a:r>
              <a:rPr lang="de" sz="1500">
                <a:solidFill>
                  <a:schemeClr val="dk1"/>
                </a:solidFill>
              </a:rPr>
              <a:t> </a:t>
            </a:r>
            <a:br>
              <a:rPr lang="de" sz="15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800">
                <a:solidFill>
                  <a:schemeClr val="dk1"/>
                </a:solidFill>
              </a:rPr>
              <a:t>   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687" name="Google Shape;687;p73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IMPLEMENTIERUNG</a:t>
            </a:r>
            <a:br>
              <a:rPr lang="de">
                <a:solidFill>
                  <a:srgbClr val="00AE4D"/>
                </a:solidFill>
              </a:rPr>
            </a:br>
            <a:endParaRPr>
              <a:solidFill>
                <a:srgbClr val="00AE4D"/>
              </a:solidFill>
            </a:endParaRPr>
          </a:p>
        </p:txBody>
      </p:sp>
      <p:sp>
        <p:nvSpPr>
          <p:cNvPr id="688" name="Google Shape;688;p73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689" name="Google Shape;689;p73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de" sz="1000">
                <a:solidFill>
                  <a:srgbClr val="00AE4D"/>
                </a:solidFill>
              </a:rPr>
              <a:t>3</a:t>
            </a: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lang="de" sz="1000">
                <a:solidFill>
                  <a:srgbClr val="00AE4D"/>
                </a:solidFill>
              </a:rPr>
              <a:t>Implementierung</a:t>
            </a:r>
            <a:endParaRPr>
              <a:solidFill>
                <a:srgbClr val="00AE4D"/>
              </a:solidFill>
            </a:endParaRPr>
          </a:p>
        </p:txBody>
      </p:sp>
      <p:sp>
        <p:nvSpPr>
          <p:cNvPr id="690" name="Google Shape;690;p73"/>
          <p:cNvSpPr txBox="1"/>
          <p:nvPr/>
        </p:nvSpPr>
        <p:spPr>
          <a:xfrm>
            <a:off x="5638800" y="2095500"/>
            <a:ext cx="3194700" cy="21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" sz="1500">
                <a:solidFill>
                  <a:schemeClr val="dk1"/>
                </a:solidFill>
              </a:rPr>
              <a:t>Coverage-Metriken: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de" sz="1500">
                <a:solidFill>
                  <a:schemeClr val="dk1"/>
                </a:solidFill>
              </a:rPr>
              <a:t>Zeilen: ~84%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de" sz="1500">
                <a:solidFill>
                  <a:schemeClr val="dk1"/>
                </a:solidFill>
              </a:rPr>
              <a:t>Branches: ~78%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de" sz="1500">
                <a:solidFill>
                  <a:schemeClr val="dk1"/>
                </a:solidFill>
              </a:rPr>
              <a:t>Methoden: ~91%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de" sz="1500">
                <a:solidFill>
                  <a:schemeClr val="dk1"/>
                </a:solidFill>
              </a:rPr>
              <a:t>Klassen: 100%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14141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74"/>
          <p:cNvSpPr txBox="1"/>
          <p:nvPr>
            <p:ph idx="1" type="body"/>
          </p:nvPr>
        </p:nvSpPr>
        <p:spPr>
          <a:xfrm>
            <a:off x="685800" y="1485900"/>
            <a:ext cx="8001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rgbClr val="00AE4D"/>
                </a:solidFill>
              </a:rPr>
              <a:t>Rückblick wichtigste Anforderungen</a:t>
            </a:r>
            <a:endParaRPr sz="2000">
              <a:solidFill>
                <a:srgbClr val="00AE4D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de" sz="2000"/>
              <a:t>14 tägiges Protokoll auf Server und Datenbank</a:t>
            </a:r>
            <a:endParaRPr sz="20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 sz="2000"/>
              <a:t>Webapp für das Krankenhaus</a:t>
            </a:r>
            <a:endParaRPr sz="20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 sz="2000"/>
              <a:t>System - Logik in zentralem Backend</a:t>
            </a:r>
            <a:endParaRPr sz="20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 sz="2000"/>
              <a:t>Smartwatch zur Messung im Schlaf</a:t>
            </a:r>
            <a:endParaRPr sz="20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 sz="2000"/>
              <a:t>Benutzerfreundlichkeit, u.a.:</a:t>
            </a:r>
            <a:endParaRPr sz="20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de" sz="1800"/>
              <a:t>simple barierefreie Benutzeroberfläche</a:t>
            </a:r>
            <a:endParaRPr sz="18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de" sz="1800"/>
              <a:t>Sprache</a:t>
            </a:r>
            <a:endParaRPr sz="18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de" sz="1800"/>
              <a:t>Offline</a:t>
            </a:r>
            <a:endParaRPr sz="1800"/>
          </a:p>
        </p:txBody>
      </p:sp>
      <p:sp>
        <p:nvSpPr>
          <p:cNvPr id="696" name="Google Shape;696;p74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ZUSAMMENFASSUNG UND REFLEXION</a:t>
            </a:r>
            <a:endParaRPr>
              <a:solidFill>
                <a:srgbClr val="00AE4D"/>
              </a:solidFill>
            </a:endParaRPr>
          </a:p>
        </p:txBody>
      </p:sp>
      <p:sp>
        <p:nvSpPr>
          <p:cNvPr id="697" name="Google Shape;697;p74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698" name="Google Shape;698;p74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de" sz="1000">
                <a:solidFill>
                  <a:srgbClr val="00AE4D"/>
                </a:solidFill>
              </a:rPr>
              <a:t>4</a:t>
            </a: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lang="de" sz="1000">
                <a:solidFill>
                  <a:srgbClr val="00AE4D"/>
                </a:solidFill>
              </a:rPr>
              <a:t>Zusammenfassung und Reflexion</a:t>
            </a:r>
            <a:endParaRPr>
              <a:solidFill>
                <a:srgbClr val="00AE4D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75"/>
          <p:cNvSpPr txBox="1"/>
          <p:nvPr>
            <p:ph idx="1" type="body"/>
          </p:nvPr>
        </p:nvSpPr>
        <p:spPr>
          <a:xfrm>
            <a:off x="685800" y="1485900"/>
            <a:ext cx="80010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rgbClr val="00AE4D"/>
                </a:solidFill>
              </a:rPr>
              <a:t>Erfüllte Anforderungen:</a:t>
            </a:r>
            <a:endParaRPr sz="2000">
              <a:solidFill>
                <a:srgbClr val="00AE4D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 sz="2000"/>
              <a:t>Alle Komponenten wie vorgegeben</a:t>
            </a:r>
            <a:endParaRPr sz="20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 sz="2000"/>
              <a:t>Smartwatch umgesetzt, aus Zeitgründen Daten nur in der App verfügbar und keine Übersetzung</a:t>
            </a:r>
            <a:endParaRPr sz="20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 sz="2000"/>
              <a:t>UI Elemente groß und übersichtlich (fast WCAG AA)</a:t>
            </a:r>
            <a:endParaRPr sz="20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 sz="2000"/>
              <a:t>Protokoll vollständig und (ab 2. oder 3. Tag) in 5 min ausfüllbar</a:t>
            </a:r>
            <a:endParaRPr sz="2000"/>
          </a:p>
        </p:txBody>
      </p:sp>
      <p:sp>
        <p:nvSpPr>
          <p:cNvPr id="704" name="Google Shape;704;p75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de">
                <a:solidFill>
                  <a:srgbClr val="00AE4D"/>
                </a:solidFill>
              </a:rPr>
              <a:t>ZUSAMMENFASSUNG UND REFLEXION</a:t>
            </a:r>
            <a:endParaRPr/>
          </a:p>
        </p:txBody>
      </p:sp>
      <p:sp>
        <p:nvSpPr>
          <p:cNvPr id="705" name="Google Shape;705;p75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de" sz="1000">
                <a:solidFill>
                  <a:srgbClr val="00AE4D"/>
                </a:solidFill>
              </a:rPr>
              <a:t>4</a:t>
            </a: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lang="de" sz="1000">
                <a:solidFill>
                  <a:srgbClr val="00AE4D"/>
                </a:solidFill>
              </a:rPr>
              <a:t>Zusammenfassung und Reflexion</a:t>
            </a:r>
            <a:endParaRPr>
              <a:solidFill>
                <a:srgbClr val="00AE4D"/>
              </a:solidFill>
            </a:endParaRPr>
          </a:p>
        </p:txBody>
      </p:sp>
      <p:sp>
        <p:nvSpPr>
          <p:cNvPr id="706" name="Google Shape;706;p75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76"/>
          <p:cNvSpPr txBox="1"/>
          <p:nvPr>
            <p:ph idx="1" type="body"/>
          </p:nvPr>
        </p:nvSpPr>
        <p:spPr>
          <a:xfrm>
            <a:off x="685800" y="1485900"/>
            <a:ext cx="80010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rgbClr val="00AE4D"/>
                </a:solidFill>
              </a:rPr>
              <a:t>Herausforderungen</a:t>
            </a:r>
            <a:endParaRPr sz="2000">
              <a:solidFill>
                <a:srgbClr val="00AE4D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 sz="2000"/>
              <a:t>Arbeitsteilung in den ersten 2 Wochen</a:t>
            </a:r>
            <a:endParaRPr sz="20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 sz="2000"/>
              <a:t>Zeitlicher Druck, da Gruppentreffen am Di und meistens Arbeiten am Mi</a:t>
            </a:r>
            <a:endParaRPr sz="20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 sz="2000"/>
              <a:t>einarbeiten und verschiedene Programme</a:t>
            </a:r>
            <a:endParaRPr sz="20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 sz="2000"/>
              <a:t>Merge Konflikte, da mehr Komponenten als Arbeiter</a:t>
            </a:r>
            <a:endParaRPr sz="20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 sz="2000"/>
              <a:t>Kommunikation mit Lehrstuhl speziell Infos zu MS</a:t>
            </a:r>
            <a:endParaRPr sz="2000"/>
          </a:p>
        </p:txBody>
      </p:sp>
      <p:sp>
        <p:nvSpPr>
          <p:cNvPr id="712" name="Google Shape;712;p76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de">
                <a:solidFill>
                  <a:srgbClr val="00AE4D"/>
                </a:solidFill>
              </a:rPr>
              <a:t>ZUSAMMENFASSUNG UND REFLEXION</a:t>
            </a:r>
            <a:endParaRPr/>
          </a:p>
        </p:txBody>
      </p:sp>
      <p:sp>
        <p:nvSpPr>
          <p:cNvPr id="713" name="Google Shape;713;p76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de" sz="1000">
                <a:solidFill>
                  <a:srgbClr val="00AE4D"/>
                </a:solidFill>
              </a:rPr>
              <a:t>4</a:t>
            </a: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lang="de" sz="1000">
                <a:solidFill>
                  <a:srgbClr val="00AE4D"/>
                </a:solidFill>
              </a:rPr>
              <a:t>Zusammenfassung und Reflexion</a:t>
            </a:r>
            <a:endParaRPr>
              <a:solidFill>
                <a:srgbClr val="00AE4D"/>
              </a:solidFill>
            </a:endParaRPr>
          </a:p>
        </p:txBody>
      </p:sp>
      <p:sp>
        <p:nvSpPr>
          <p:cNvPr id="714" name="Google Shape;714;p76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77"/>
          <p:cNvSpPr txBox="1"/>
          <p:nvPr>
            <p:ph idx="1" type="body"/>
          </p:nvPr>
        </p:nvSpPr>
        <p:spPr>
          <a:xfrm>
            <a:off x="685800" y="1485900"/>
            <a:ext cx="80010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rgbClr val="00AE4D"/>
                </a:solidFill>
              </a:rPr>
              <a:t>Erkenntnisse</a:t>
            </a:r>
            <a:endParaRPr sz="2000">
              <a:solidFill>
                <a:srgbClr val="00AE4D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 sz="2000"/>
              <a:t>Kommunikation und noch mehr Kommunikation</a:t>
            </a:r>
            <a:endParaRPr sz="20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de" sz="1800"/>
              <a:t>viel </a:t>
            </a:r>
            <a:r>
              <a:rPr lang="de" sz="1800"/>
              <a:t>Simultanes</a:t>
            </a:r>
            <a:r>
              <a:rPr lang="de" sz="1800"/>
              <a:t> Arbeiten</a:t>
            </a:r>
            <a:endParaRPr sz="18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de" sz="1800"/>
              <a:t>Unterschied zu Anfang und Ende</a:t>
            </a:r>
            <a:endParaRPr sz="18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 sz="2000"/>
              <a:t>Selbstverwaltung</a:t>
            </a:r>
            <a:endParaRPr sz="20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 sz="2000"/>
              <a:t>Mehrwert von Feedback</a:t>
            </a:r>
            <a:endParaRPr sz="2000"/>
          </a:p>
        </p:txBody>
      </p:sp>
      <p:sp>
        <p:nvSpPr>
          <p:cNvPr id="720" name="Google Shape;720;p77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de">
                <a:solidFill>
                  <a:srgbClr val="00AE4D"/>
                </a:solidFill>
              </a:rPr>
              <a:t>ZUSAMMENFASSUNG UND REFLEXION</a:t>
            </a:r>
            <a:endParaRPr/>
          </a:p>
        </p:txBody>
      </p:sp>
      <p:sp>
        <p:nvSpPr>
          <p:cNvPr id="721" name="Google Shape;721;p77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de" sz="1000">
                <a:solidFill>
                  <a:srgbClr val="00AE4D"/>
                </a:solidFill>
              </a:rPr>
              <a:t>4</a:t>
            </a: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lang="de" sz="1000">
                <a:solidFill>
                  <a:srgbClr val="00AE4D"/>
                </a:solidFill>
              </a:rPr>
              <a:t>Zusammenfassung und Reflexion</a:t>
            </a:r>
            <a:endParaRPr>
              <a:solidFill>
                <a:srgbClr val="00AE4D"/>
              </a:solidFill>
            </a:endParaRPr>
          </a:p>
        </p:txBody>
      </p:sp>
      <p:sp>
        <p:nvSpPr>
          <p:cNvPr id="722" name="Google Shape;722;p77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78"/>
          <p:cNvSpPr txBox="1"/>
          <p:nvPr>
            <p:ph idx="1" type="body"/>
          </p:nvPr>
        </p:nvSpPr>
        <p:spPr>
          <a:xfrm>
            <a:off x="685800" y="1485900"/>
            <a:ext cx="80010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rgbClr val="00AE4D"/>
                </a:solidFill>
              </a:rPr>
              <a:t>Verbesserungspotenzial Studenten</a:t>
            </a:r>
            <a:endParaRPr sz="2000">
              <a:solidFill>
                <a:srgbClr val="00AE4D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 sz="2000"/>
              <a:t>Frühere Kommunikation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" sz="2000"/>
              <a:t>vermehrte Nutzung von Management Tools wie Kanban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" sz="2000"/>
              <a:t>Branches besser sortieren (3. Woche Implementierung stark verbessert)</a:t>
            </a:r>
            <a:endParaRPr sz="2000"/>
          </a:p>
        </p:txBody>
      </p:sp>
      <p:sp>
        <p:nvSpPr>
          <p:cNvPr id="728" name="Google Shape;728;p78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de">
                <a:solidFill>
                  <a:srgbClr val="00AE4D"/>
                </a:solidFill>
              </a:rPr>
              <a:t>ZUSAMMENFASSUNG UND REFLEXION</a:t>
            </a:r>
            <a:endParaRPr/>
          </a:p>
        </p:txBody>
      </p:sp>
      <p:sp>
        <p:nvSpPr>
          <p:cNvPr id="729" name="Google Shape;729;p78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de" sz="1000">
                <a:solidFill>
                  <a:srgbClr val="00AE4D"/>
                </a:solidFill>
              </a:rPr>
              <a:t>4</a:t>
            </a: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lang="de" sz="1000">
                <a:solidFill>
                  <a:srgbClr val="00AE4D"/>
                </a:solidFill>
              </a:rPr>
              <a:t>Zusammenfassung und Reflexion</a:t>
            </a:r>
            <a:endParaRPr>
              <a:solidFill>
                <a:srgbClr val="00AE4D"/>
              </a:solidFill>
            </a:endParaRPr>
          </a:p>
        </p:txBody>
      </p:sp>
      <p:sp>
        <p:nvSpPr>
          <p:cNvPr id="730" name="Google Shape;730;p78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79"/>
          <p:cNvSpPr txBox="1"/>
          <p:nvPr>
            <p:ph idx="1" type="body"/>
          </p:nvPr>
        </p:nvSpPr>
        <p:spPr>
          <a:xfrm>
            <a:off x="685800" y="1485900"/>
            <a:ext cx="80010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rgbClr val="00AE4D"/>
                </a:solidFill>
              </a:rPr>
              <a:t>Verbesserungspotenzial Lehrstuhl</a:t>
            </a:r>
            <a:endParaRPr sz="2000">
              <a:solidFill>
                <a:srgbClr val="00AE4D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" sz="2000"/>
              <a:t>Meilensteine und Deadlines zeitiger klären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" sz="2000"/>
              <a:t>weniger Strikte Analyse, Diagramme u.ä. werden durch Konsequenz dutzende Male verändert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" sz="2000"/>
              <a:t>Technische Breefings: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"/>
              <a:t>weniger aber ausgereifter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Eher während Implementierung</a:t>
            </a:r>
            <a:endParaRPr/>
          </a:p>
        </p:txBody>
      </p:sp>
      <p:sp>
        <p:nvSpPr>
          <p:cNvPr id="736" name="Google Shape;736;p79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de">
                <a:solidFill>
                  <a:srgbClr val="00AE4D"/>
                </a:solidFill>
              </a:rPr>
              <a:t>ZUSAMMENFASSUNG UND REFLEXION</a:t>
            </a:r>
            <a:endParaRPr/>
          </a:p>
        </p:txBody>
      </p:sp>
      <p:sp>
        <p:nvSpPr>
          <p:cNvPr id="737" name="Google Shape;737;p79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de" sz="1000">
                <a:solidFill>
                  <a:srgbClr val="00AE4D"/>
                </a:solidFill>
              </a:rPr>
              <a:t>4</a:t>
            </a: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lang="de" sz="1000">
                <a:solidFill>
                  <a:srgbClr val="00AE4D"/>
                </a:solidFill>
              </a:rPr>
              <a:t>Zusammenfassung und Reflexion</a:t>
            </a:r>
            <a:endParaRPr>
              <a:solidFill>
                <a:srgbClr val="00AE4D"/>
              </a:solidFill>
            </a:endParaRPr>
          </a:p>
        </p:txBody>
      </p:sp>
      <p:sp>
        <p:nvSpPr>
          <p:cNvPr id="738" name="Google Shape;738;p79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80"/>
          <p:cNvSpPr txBox="1"/>
          <p:nvPr>
            <p:ph idx="1" type="body"/>
          </p:nvPr>
        </p:nvSpPr>
        <p:spPr>
          <a:xfrm>
            <a:off x="685800" y="1485900"/>
            <a:ext cx="80010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rgbClr val="00AE4D"/>
                </a:solidFill>
              </a:rPr>
              <a:t>Weiterentwicklung der Software</a:t>
            </a:r>
            <a:endParaRPr sz="2000">
              <a:solidFill>
                <a:srgbClr val="00AE4D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" sz="2000"/>
              <a:t>Integration in reales System (FHIR Server, Internet, …)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" sz="2000"/>
              <a:t>Ausreifung der Smartwatch (Übersetzung, UI, Verknüpfung)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" sz="2000"/>
              <a:t>Überarbeitung Fragenkathalog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" sz="2000"/>
              <a:t>Weitreichendere Träume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"/>
              <a:t>Analyse in Web, nicht PDF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PDF für allgemeine Fragen erweiterbar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Klassifizierung als Medizinprodukt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Geschätzt noch einmal so viel Zeit benötigt für Marktfertiges Produkt.</a:t>
            </a:r>
            <a:endParaRPr/>
          </a:p>
        </p:txBody>
      </p:sp>
      <p:sp>
        <p:nvSpPr>
          <p:cNvPr id="744" name="Google Shape;744;p80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de">
                <a:solidFill>
                  <a:srgbClr val="00AE4D"/>
                </a:solidFill>
              </a:rPr>
              <a:t>ZUSAMMENFASSUNG UND REFLEXION</a:t>
            </a:r>
            <a:endParaRPr/>
          </a:p>
        </p:txBody>
      </p:sp>
      <p:sp>
        <p:nvSpPr>
          <p:cNvPr id="745" name="Google Shape;745;p80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de" sz="1000">
                <a:solidFill>
                  <a:srgbClr val="00AE4D"/>
                </a:solidFill>
              </a:rPr>
              <a:t>4</a:t>
            </a: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lang="de" sz="1000">
                <a:solidFill>
                  <a:srgbClr val="00AE4D"/>
                </a:solidFill>
              </a:rPr>
              <a:t>Zusammenfassung und Reflexion</a:t>
            </a:r>
            <a:endParaRPr>
              <a:solidFill>
                <a:srgbClr val="00AE4D"/>
              </a:solidFill>
            </a:endParaRPr>
          </a:p>
        </p:txBody>
      </p:sp>
      <p:sp>
        <p:nvSpPr>
          <p:cNvPr id="746" name="Google Shape;746;p80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81"/>
          <p:cNvSpPr txBox="1"/>
          <p:nvPr>
            <p:ph idx="1" type="body"/>
          </p:nvPr>
        </p:nvSpPr>
        <p:spPr>
          <a:xfrm>
            <a:off x="685800" y="1485900"/>
            <a:ext cx="8001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 sz="2000"/>
              <a:t>Implementierung in Android: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" sz="1200" u="sng">
                <a:solidFill>
                  <a:schemeClr val="hlink"/>
                </a:solidFill>
                <a:hlinkClick r:id="rId3"/>
              </a:rPr>
              <a:t>https://developer.android.com/compose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 sz="1200">
                <a:solidFill>
                  <a:schemeClr val="hlink"/>
                </a:solidFill>
                <a:uFill>
                  <a:noFill/>
                </a:uFill>
                <a:hlinkClick r:id="rId4"/>
              </a:rPr>
              <a:t>https://m3.material.io/components/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 sz="2000"/>
              <a:t>Spring-Boot: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" sz="1200">
                <a:solidFill>
                  <a:schemeClr val="hlink"/>
                </a:solidFill>
                <a:uFill>
                  <a:noFill/>
                </a:uFill>
                <a:hlinkClick r:id="rId5"/>
              </a:rPr>
              <a:t>https://spring.io/projects/spring-boot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 sz="2000"/>
              <a:t>Docker: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" sz="1200">
                <a:solidFill>
                  <a:schemeClr val="hlink"/>
                </a:solidFill>
                <a:uFill>
                  <a:noFill/>
                </a:uFill>
                <a:hlinkClick r:id="rId6"/>
              </a:rPr>
              <a:t>https://docs.docker.com/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 sz="2000"/>
              <a:t>PostgreSQL: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" sz="1200">
                <a:solidFill>
                  <a:schemeClr val="hlink"/>
                </a:solidFill>
                <a:uFill>
                  <a:noFill/>
                </a:uFill>
                <a:hlinkClick r:id="rId7"/>
              </a:rPr>
              <a:t>https://www.postgresql.org/docs/</a:t>
            </a:r>
            <a:endParaRPr sz="2000"/>
          </a:p>
        </p:txBody>
      </p:sp>
      <p:sp>
        <p:nvSpPr>
          <p:cNvPr id="752" name="Google Shape;752;p81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QUELLENANGABE </a:t>
            </a:r>
            <a:endParaRPr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(Informationsbeschaffung/Tutorials)</a:t>
            </a:r>
            <a:endParaRPr>
              <a:solidFill>
                <a:srgbClr val="00AE4D"/>
              </a:solidFill>
            </a:endParaRPr>
          </a:p>
        </p:txBody>
      </p:sp>
      <p:sp>
        <p:nvSpPr>
          <p:cNvPr id="753" name="Google Shape;753;p81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754" name="Google Shape;754;p81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de" sz="1000">
                <a:solidFill>
                  <a:srgbClr val="00AE4D"/>
                </a:solidFill>
              </a:rPr>
              <a:t>5</a:t>
            </a: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lang="de" sz="1000">
                <a:solidFill>
                  <a:srgbClr val="00AE4D"/>
                </a:solidFill>
              </a:rPr>
              <a:t>Quellenangabe</a:t>
            </a:r>
            <a:endParaRPr>
              <a:solidFill>
                <a:srgbClr val="00AE4D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82"/>
          <p:cNvSpPr txBox="1"/>
          <p:nvPr>
            <p:ph idx="1" type="body"/>
          </p:nvPr>
        </p:nvSpPr>
        <p:spPr>
          <a:xfrm>
            <a:off x="685800" y="1485900"/>
            <a:ext cx="8001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 sz="2000"/>
              <a:t>Website (HTML, JavaScript, CSS)</a:t>
            </a:r>
            <a:r>
              <a:rPr lang="de" sz="2000"/>
              <a:t>: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" sz="1200" u="sng">
                <a:solidFill>
                  <a:schemeClr val="hlink"/>
                </a:solidFill>
                <a:hlinkClick r:id="rId3"/>
              </a:rPr>
              <a:t>https://www.w3schools.com/html/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de" sz="1200" u="sng">
                <a:solidFill>
                  <a:schemeClr val="hlink"/>
                </a:solidFill>
                <a:hlinkClick r:id="rId4"/>
              </a:rPr>
              <a:t>https://www.w3schools.com/js/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de" sz="1200" u="sng">
                <a:solidFill>
                  <a:schemeClr val="hlink"/>
                </a:solidFill>
                <a:hlinkClick r:id="rId5"/>
              </a:rPr>
              <a:t>https://wiki.selfhtml.org/wiki/Einstieg_in_CSS</a:t>
            </a:r>
            <a:endParaRPr sz="12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 sz="2000"/>
              <a:t>Postman:</a:t>
            </a:r>
            <a:endParaRPr sz="20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de" sz="1200"/>
              <a:t>https://wiki.selfhtml.org/wiki/Einstieg_in_CSS</a:t>
            </a:r>
            <a:endParaRPr sz="12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" sz="2000"/>
              <a:t>IntelliJ:</a:t>
            </a:r>
            <a:endParaRPr sz="20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de" sz="1200" u="sng">
                <a:solidFill>
                  <a:schemeClr val="hlink"/>
                </a:solidFill>
                <a:hlinkClick r:id="rId6"/>
              </a:rPr>
              <a:t>https://www.jetbrains.com/help/idea/getting-started.html</a:t>
            </a:r>
            <a:endParaRPr sz="12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de" sz="2000"/>
              <a:t>Latex:</a:t>
            </a:r>
            <a:endParaRPr sz="20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de" sz="1200" u="sng">
                <a:solidFill>
                  <a:schemeClr val="hlink"/>
                </a:solidFill>
                <a:hlinkClick r:id="rId7"/>
              </a:rPr>
              <a:t>https://www.overleaf.com/learn/latex/Learn_LaTeX_in_30_minutes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" sz="2000"/>
              <a:t>EVS-Folien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760" name="Google Shape;760;p82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QUELLENANGABE </a:t>
            </a:r>
            <a:endParaRPr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(Informationsbeschaffung/Tutorials)</a:t>
            </a:r>
            <a:endParaRPr>
              <a:solidFill>
                <a:srgbClr val="00AE4D"/>
              </a:solidFill>
            </a:endParaRPr>
          </a:p>
        </p:txBody>
      </p:sp>
      <p:sp>
        <p:nvSpPr>
          <p:cNvPr id="761" name="Google Shape;761;p82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762" name="Google Shape;762;p82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de" sz="1000">
                <a:solidFill>
                  <a:srgbClr val="00AE4D"/>
                </a:solidFill>
              </a:rPr>
              <a:t>5</a:t>
            </a: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lang="de" sz="1000">
                <a:solidFill>
                  <a:srgbClr val="00AE4D"/>
                </a:solidFill>
              </a:rPr>
              <a:t>Quellenangabe</a:t>
            </a:r>
            <a:endParaRPr>
              <a:solidFill>
                <a:srgbClr val="00AE4D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83"/>
          <p:cNvSpPr txBox="1"/>
          <p:nvPr>
            <p:ph idx="1" type="body"/>
          </p:nvPr>
        </p:nvSpPr>
        <p:spPr>
          <a:xfrm>
            <a:off x="685800" y="1485900"/>
            <a:ext cx="8001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 sz="2000"/>
              <a:t>Clipchamp (für Video-Editing):</a:t>
            </a:r>
            <a:endParaRPr sz="20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de" sz="1200"/>
              <a:t>https://clipchamp.com/de/video-editor/</a:t>
            </a:r>
            <a:endParaRPr sz="12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" sz="2000"/>
              <a:t>Visual Studio Code (Programmierumgebung):</a:t>
            </a:r>
            <a:endParaRPr sz="20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de" sz="1200"/>
              <a:t>https://code.visualstudio.com</a:t>
            </a:r>
            <a:endParaRPr sz="12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" sz="2000"/>
              <a:t>Git:</a:t>
            </a:r>
            <a:endParaRPr sz="20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de" sz="1200"/>
              <a:t>https://git-scm.com</a:t>
            </a:r>
            <a:endParaRPr sz="12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" sz="2000"/>
              <a:t>Draw.io (für Diagagramme):</a:t>
            </a:r>
            <a:endParaRPr sz="20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de" sz="1200" u="sng">
                <a:solidFill>
                  <a:schemeClr val="hlink"/>
                </a:solidFill>
                <a:hlinkClick r:id="rId3"/>
              </a:rPr>
              <a:t>https://app.diagrams.net</a:t>
            </a:r>
            <a:endParaRPr sz="12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de" sz="2000"/>
              <a:t>Affinity Publisher:</a:t>
            </a:r>
            <a:endParaRPr sz="20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de" sz="1200" u="sng">
                <a:solidFill>
                  <a:schemeClr val="hlink"/>
                </a:solidFill>
                <a:hlinkClick r:id="rId4"/>
              </a:rPr>
              <a:t>https://www.affinity.studio/de_de/page-layout-software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768" name="Google Shape;768;p83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QUELLENANGABE </a:t>
            </a:r>
            <a:endParaRPr>
              <a:solidFill>
                <a:srgbClr val="00AE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(Tools)</a:t>
            </a:r>
            <a:endParaRPr>
              <a:solidFill>
                <a:srgbClr val="00AE4D"/>
              </a:solidFill>
            </a:endParaRPr>
          </a:p>
        </p:txBody>
      </p:sp>
      <p:sp>
        <p:nvSpPr>
          <p:cNvPr id="769" name="Google Shape;769;p83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770" name="Google Shape;770;p83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de" sz="1000">
                <a:solidFill>
                  <a:srgbClr val="00AE4D"/>
                </a:solidFill>
              </a:rPr>
              <a:t>5</a:t>
            </a: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lang="de" sz="1000">
                <a:solidFill>
                  <a:srgbClr val="00AE4D"/>
                </a:solidFill>
              </a:rPr>
              <a:t>Quellenangabe</a:t>
            </a:r>
            <a:endParaRPr>
              <a:solidFill>
                <a:srgbClr val="00AE4D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84"/>
          <p:cNvSpPr txBox="1"/>
          <p:nvPr>
            <p:ph idx="1" type="body"/>
          </p:nvPr>
        </p:nvSpPr>
        <p:spPr>
          <a:xfrm>
            <a:off x="685800" y="1485900"/>
            <a:ext cx="8001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ctr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t/>
            </a:r>
            <a:endParaRPr/>
          </a:p>
          <a:p>
            <a:pPr indent="-190500" lvl="0" marL="342900" rtl="0" algn="ctr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/>
              <a:t>Damit sind wir am Ende unserer Präsentation angekommen. </a:t>
            </a:r>
            <a:endParaRPr/>
          </a:p>
          <a:p>
            <a:pPr indent="-190500" lvl="0" marL="342900" rtl="0" algn="ctr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None/>
            </a:pPr>
            <a:r>
              <a:rPr lang="de"/>
              <a:t>Wir bedanken uns für Ihre Aufmerksamkeit und stehen nun gerne für Fragen zur Verfügung.</a:t>
            </a:r>
            <a:endParaRPr/>
          </a:p>
        </p:txBody>
      </p:sp>
      <p:sp>
        <p:nvSpPr>
          <p:cNvPr id="776" name="Google Shape;776;p84"/>
          <p:cNvSpPr txBox="1"/>
          <p:nvPr>
            <p:ph type="title"/>
          </p:nvPr>
        </p:nvSpPr>
        <p:spPr>
          <a:xfrm>
            <a:off x="685800" y="457200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AE4D"/>
                </a:solidFill>
              </a:rPr>
              <a:t>ENDE</a:t>
            </a:r>
            <a:endParaRPr>
              <a:solidFill>
                <a:srgbClr val="00AE4D"/>
              </a:solidFill>
            </a:endParaRPr>
          </a:p>
        </p:txBody>
      </p:sp>
      <p:sp>
        <p:nvSpPr>
          <p:cNvPr id="777" name="Google Shape;777;p84"/>
          <p:cNvSpPr txBox="1"/>
          <p:nvPr>
            <p:ph idx="12" type="sldNum"/>
          </p:nvPr>
        </p:nvSpPr>
        <p:spPr>
          <a:xfrm>
            <a:off x="6781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8CC2F"/>
              </a:buClr>
              <a:buSzPts val="1000"/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778" name="Google Shape;778;p84"/>
          <p:cNvSpPr/>
          <p:nvPr/>
        </p:nvSpPr>
        <p:spPr>
          <a:xfrm>
            <a:off x="457200" y="4686300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de" sz="1000">
                <a:solidFill>
                  <a:srgbClr val="00AE4D"/>
                </a:solidFill>
              </a:rPr>
              <a:t>6</a:t>
            </a:r>
            <a:r>
              <a:rPr b="0" i="0" lang="de" sz="1000" u="none" cap="none" strike="noStrike">
                <a:solidFill>
                  <a:srgbClr val="00AE4D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lang="de" sz="1000">
                <a:solidFill>
                  <a:srgbClr val="00AE4D"/>
                </a:solidFill>
              </a:rPr>
              <a:t>Ende</a:t>
            </a:r>
            <a:endParaRPr>
              <a:solidFill>
                <a:srgbClr val="00AE4D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eere Präsentation">
  <a:themeElements>
    <a:clrScheme name="Leere Prä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